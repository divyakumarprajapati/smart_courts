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71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293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794760" y="1097280"/>
            <a:ext cx="1371600" cy="13716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10B981"/>
              </a:gs>
              <a:gs pos="100000">
                <a:srgbClr val="06B6D4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94760" y="1371600"/>
            <a:ext cx="1371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>
                <a:solidFill>
                  <a:srgbClr val="FFFFFF"/>
                </a:solidFill>
              </a:rPr>
              <a:t>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Court</a:t>
            </a:r>
            <a:r>
              <a:rPr sz="7200" b="1">
                <a:solidFill>
                  <a:srgbClr val="34D399"/>
                </a:solidFill>
                <a:latin typeface="Arial"/>
              </a:rPr>
              <a:t>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CA3AF"/>
                </a:solidFill>
                <a:latin typeface="Arial"/>
              </a:rPr>
              <a:t>The Operating System for Intelligent Courts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6B7280"/>
                </a:solidFill>
                <a:latin typeface="Arial"/>
              </a:rPr>
              <a:t>AI-powered court automation that officiates games, calls every line, and delivers real-time analytics — without human intervention.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5029200"/>
            <a:ext cx="256032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50749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9CA3AF"/>
                </a:solidFill>
                <a:latin typeface="Arial"/>
              </a:rPr>
              <a:t>● Seed Stage •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293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B7280"/>
                </a:solidFill>
                <a:latin typeface="Arial"/>
              </a:rPr>
              <a:t>02 /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365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rial"/>
              </a:rPr>
              <a:t>CourtNG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9CA3AF"/>
                </a:solidFill>
                <a:latin typeface="Arial"/>
              </a:rPr>
              <a:t>Sports courts today are stuck in the past — expensive, inconsistent, and data-blind.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3931920" cy="1371600"/>
          </a:xfrm>
          <a:prstGeom prst="roundRect">
            <a:avLst>
              <a:gd name="adj" fmla="val 10000"/>
            </a:avLst>
          </a:prstGeom>
          <a:solidFill>
            <a:srgbClr val="321E1E"/>
          </a:solidFill>
          <a:ln>
            <a:solidFill>
              <a:srgbClr val="7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7743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⚠️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33172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CA5A5"/>
                </a:solidFill>
                <a:latin typeface="Arial"/>
              </a:rPr>
              <a:t>Human Error &amp; Disputes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7432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CA3AF"/>
                </a:solidFill>
                <a:latin typeface="Arial"/>
              </a:rPr>
              <a:t>Manual scoring and refereeing leads to errors, disputes, and inconsistent rule enforcement.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103120"/>
            <a:ext cx="3931920" cy="1371600"/>
          </a:xfrm>
          <a:prstGeom prst="roundRect">
            <a:avLst>
              <a:gd name="adj" fmla="val 10000"/>
            </a:avLst>
          </a:prstGeom>
          <a:solidFill>
            <a:srgbClr val="321E1E"/>
          </a:solidFill>
          <a:ln>
            <a:solidFill>
              <a:srgbClr val="7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37743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33172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CA5A5"/>
                </a:solidFill>
                <a:latin typeface="Arial"/>
              </a:rPr>
              <a:t>Expensive Officials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7432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CA3AF"/>
                </a:solidFill>
                <a:latin typeface="Arial"/>
              </a:rPr>
              <a:t>Qualified referees are scarce and expensive. Venues spend $172K/month on staff overhead.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749039"/>
            <a:ext cx="3931920" cy="1371600"/>
          </a:xfrm>
          <a:prstGeom prst="roundRect">
            <a:avLst>
              <a:gd name="adj" fmla="val 10000"/>
            </a:avLst>
          </a:prstGeom>
          <a:solidFill>
            <a:srgbClr val="321E1E"/>
          </a:solidFill>
          <a:ln>
            <a:solidFill>
              <a:srgbClr val="7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5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977639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CA5A5"/>
                </a:solidFill>
                <a:latin typeface="Arial"/>
              </a:rPr>
              <a:t>Zero Player Insights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3891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CA3AF"/>
                </a:solidFill>
                <a:latin typeface="Arial"/>
              </a:rPr>
              <a:t>No real-time data means missed coaching opportunities and no performance analytics.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749039"/>
            <a:ext cx="3931920" cy="1371600"/>
          </a:xfrm>
          <a:prstGeom prst="roundRect">
            <a:avLst>
              <a:gd name="adj" fmla="val 10000"/>
            </a:avLst>
          </a:prstGeom>
          <a:solidFill>
            <a:srgbClr val="321E1E"/>
          </a:solidFill>
          <a:ln>
            <a:solidFill>
              <a:srgbClr val="7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402335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3977639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CA5A5"/>
                </a:solidFill>
                <a:latin typeface="Arial"/>
              </a:rPr>
              <a:t>Unaffordable Technology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43891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CA3AF"/>
                </a:solidFill>
                <a:latin typeface="Arial"/>
              </a:rPr>
              <a:t>Hawk-Eye costs $60K+ per court. Only elite venues can afford automation.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2323"/>
            </a:gs>
            <a:gs pos="100000">
              <a:srgbClr val="1E293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B7280"/>
                </a:solidFill>
                <a:latin typeface="Arial"/>
              </a:rPr>
              <a:t>03 /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365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rial"/>
              </a:rPr>
              <a:t>CourtNG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The Solution: </a:t>
            </a:r>
            <a:r>
              <a:rPr sz="4000" b="1">
                <a:solidFill>
                  <a:srgbClr val="34D399"/>
                </a:solidFill>
                <a:latin typeface="Arial"/>
              </a:rPr>
              <a:t>CourtNG</a:t>
            </a:r>
            <a:r>
              <a:rPr sz="40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9CA3AF"/>
                </a:solidFill>
                <a:latin typeface="Arial"/>
              </a:rPr>
              <a:t>An AI-first court operating system that fully automates game flow and officiating.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3931920" cy="1371600"/>
          </a:xfrm>
          <a:prstGeom prst="roundRect">
            <a:avLst>
              <a:gd name="adj" fmla="val 10000"/>
            </a:avLst>
          </a:prstGeom>
          <a:solidFill>
            <a:srgbClr val="14322D"/>
          </a:solidFill>
          <a:ln>
            <a:solidFill>
              <a:srgbClr val="286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377439"/>
            <a:ext cx="457200" cy="4572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10B981"/>
              </a:gs>
              <a:gs pos="100000">
                <a:srgbClr val="06B6D4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3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/>
              <a:t>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33172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34D399"/>
                </a:solidFill>
                <a:latin typeface="Arial"/>
              </a:rPr>
              <a:t>Autonomous Officiating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7432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CA3AF"/>
                </a:solidFill>
                <a:latin typeface="Arial"/>
              </a:rPr>
              <a:t>AI detects rally start/end, scores points, and calls fouls in real-time — no humans needed.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103120"/>
            <a:ext cx="3931920" cy="1371600"/>
          </a:xfrm>
          <a:prstGeom prst="roundRect">
            <a:avLst>
              <a:gd name="adj" fmla="val 10000"/>
            </a:avLst>
          </a:prstGeom>
          <a:solidFill>
            <a:srgbClr val="14322D"/>
          </a:solidFill>
          <a:ln>
            <a:solidFill>
              <a:srgbClr val="286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0" y="2377439"/>
            <a:ext cx="457200" cy="4572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10B981"/>
              </a:gs>
              <a:gs pos="100000">
                <a:srgbClr val="06B6D4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237743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/>
              <a:t>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233172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34D399"/>
                </a:solidFill>
                <a:latin typeface="Arial"/>
              </a:rPr>
              <a:t>Sport-Agnostic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27432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CA3AF"/>
                </a:solidFill>
                <a:latin typeface="Arial"/>
              </a:rPr>
              <a:t>Configure once, deploy anywhere: tennis, pickleball, badminton, futsal, and more.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749039"/>
            <a:ext cx="3931920" cy="1371600"/>
          </a:xfrm>
          <a:prstGeom prst="roundRect">
            <a:avLst>
              <a:gd name="adj" fmla="val 10000"/>
            </a:avLst>
          </a:prstGeom>
          <a:solidFill>
            <a:srgbClr val="14322D"/>
          </a:solidFill>
          <a:ln>
            <a:solidFill>
              <a:srgbClr val="286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4023359"/>
            <a:ext cx="457200" cy="4572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10B981"/>
              </a:gs>
              <a:gs pos="100000">
                <a:srgbClr val="06B6D4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02335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/>
              <a:t>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977639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34D399"/>
                </a:solidFill>
                <a:latin typeface="Arial"/>
              </a:rPr>
              <a:t>Edge-First Deployment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3891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CA3AF"/>
                </a:solidFill>
                <a:latin typeface="Arial"/>
              </a:rPr>
              <a:t>On-premise NVIDIA Jetson inference. Sub-50ms latency. Works offline.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3749039"/>
            <a:ext cx="3931920" cy="1371600"/>
          </a:xfrm>
          <a:prstGeom prst="roundRect">
            <a:avLst>
              <a:gd name="adj" fmla="val 10000"/>
            </a:avLst>
          </a:prstGeom>
          <a:solidFill>
            <a:srgbClr val="14322D"/>
          </a:solidFill>
          <a:ln>
            <a:solidFill>
              <a:srgbClr val="286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754880" y="4023359"/>
            <a:ext cx="457200" cy="4572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10B981"/>
              </a:gs>
              <a:gs pos="100000">
                <a:srgbClr val="06B6D4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402335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/>
              <a:t>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3977639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34D399"/>
                </a:solidFill>
                <a:latin typeface="Arial"/>
              </a:rPr>
              <a:t>Integrated 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43891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CA3AF"/>
                </a:solidFill>
                <a:latin typeface="Arial"/>
              </a:rPr>
              <a:t>Live player stats, heatmaps, and performance trends delivered in real-time.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293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B7280"/>
                </a:solidFill>
                <a:latin typeface="Arial"/>
              </a:rPr>
              <a:t>04 /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365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rial"/>
              </a:rPr>
              <a:t>CourtNG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Market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9CA3AF"/>
                </a:solidFill>
                <a:latin typeface="Arial"/>
              </a:rPr>
              <a:t>The elite tier has proven AI officiating works. Now it's time to democratize access.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8046720" cy="960120"/>
          </a:xfrm>
          <a:prstGeom prst="roundRect">
            <a:avLst>
              <a:gd name="adj" fmla="val 10000"/>
            </a:avLst>
          </a:prstGeom>
          <a:solidFill>
            <a:srgbClr val="192332"/>
          </a:solidFill>
          <a:ln>
            <a:solidFill>
              <a:srgbClr val="32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502920" cy="50292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10B981"/>
              </a:gs>
              <a:gs pos="100000">
                <a:srgbClr val="06B6D4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50008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/>
              <a:t>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2860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Elite Tier Proven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06039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CA3AF"/>
                </a:solidFill>
                <a:latin typeface="Arial"/>
              </a:rPr>
              <a:t>Wimbledon (2025), ATP, and US Open have deployed full AI line-calling. The technology works at the highest level.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246120"/>
            <a:ext cx="8046720" cy="960120"/>
          </a:xfrm>
          <a:prstGeom prst="roundRect">
            <a:avLst>
              <a:gd name="adj" fmla="val 10000"/>
            </a:avLst>
          </a:prstGeom>
          <a:solidFill>
            <a:srgbClr val="192332"/>
          </a:solidFill>
          <a:ln>
            <a:solidFill>
              <a:srgbClr val="32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3474720"/>
            <a:ext cx="502920" cy="50292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10B981"/>
              </a:gs>
              <a:gs pos="100000">
                <a:srgbClr val="06B6D4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493008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/>
              <a:t>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4290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Mid-Market Growth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749039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CA3AF"/>
                </a:solidFill>
                <a:latin typeface="Arial"/>
              </a:rPr>
              <a:t>PlaySight, Wingfield, SwingVision, and TVConal are all raising funding — proving market demand.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389120"/>
            <a:ext cx="8046720" cy="960120"/>
          </a:xfrm>
          <a:prstGeom prst="roundRect">
            <a:avLst>
              <a:gd name="adj" fmla="val 10000"/>
            </a:avLst>
          </a:prstGeom>
          <a:solidFill>
            <a:srgbClr val="192332"/>
          </a:solidFill>
          <a:ln>
            <a:solidFill>
              <a:srgbClr val="32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4617720"/>
            <a:ext cx="502920" cy="50292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10B981"/>
              </a:gs>
              <a:gs pos="100000">
                <a:srgbClr val="06B6D4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636008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/>
              <a:t>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5720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The Gap We're Filling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89204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CA3AF"/>
                </a:solidFill>
                <a:latin typeface="Arial"/>
              </a:rPr>
              <a:t>No vendor offers fully autonomous, sport-agnostic "court OS". Existing players focus on single-sport, analytics-only solutions.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432"/>
            </a:gs>
            <a:gs pos="100000">
              <a:srgbClr val="1E293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B7280"/>
                </a:solidFill>
                <a:latin typeface="Arial"/>
              </a:rPr>
              <a:t>05 /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365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rial"/>
              </a:rPr>
              <a:t>CourtNG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Market Size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9CA3AF"/>
                </a:solidFill>
                <a:latin typeface="Arial"/>
              </a:rPr>
              <a:t>A massive, rapidly growing opportunity across multiple converging markets.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2651760" cy="1828800"/>
          </a:xfrm>
          <a:prstGeom prst="roundRect">
            <a:avLst>
              <a:gd name="adj" fmla="val 10000"/>
            </a:avLst>
          </a:prstGeom>
          <a:solidFill>
            <a:srgbClr val="1E283C"/>
          </a:solidFill>
          <a:ln>
            <a:solidFill>
              <a:srgbClr val="3C5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26517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34D399"/>
                </a:solidFill>
                <a:latin typeface="Arial"/>
              </a:rPr>
              <a:t>$8.7B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9CA3AF"/>
                </a:solidFill>
                <a:latin typeface="Arial"/>
              </a:rPr>
              <a:t>Computer Vision in Sports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2900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4B5563"/>
                </a:solidFill>
                <a:latin typeface="Arial"/>
              </a:rPr>
              <a:t>Projected by 2029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2103120"/>
            <a:ext cx="2651760" cy="1828800"/>
          </a:xfrm>
          <a:prstGeom prst="roundRect">
            <a:avLst>
              <a:gd name="adj" fmla="val 10000"/>
            </a:avLst>
          </a:prstGeom>
          <a:solidFill>
            <a:srgbClr val="1E283C"/>
          </a:solidFill>
          <a:ln>
            <a:solidFill>
              <a:srgbClr val="3C5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286000"/>
            <a:ext cx="26517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34D399"/>
                </a:solidFill>
                <a:latin typeface="Arial"/>
              </a:rPr>
              <a:t>$10.1B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9260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9CA3AF"/>
                </a:solidFill>
                <a:latin typeface="Arial"/>
              </a:rPr>
              <a:t>Tournament Management Software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42900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4B5563"/>
                </a:solidFill>
                <a:latin typeface="Arial"/>
              </a:rPr>
              <a:t>2033 • 14.7% CAGR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103120"/>
            <a:ext cx="2651760" cy="1828800"/>
          </a:xfrm>
          <a:prstGeom prst="roundRect">
            <a:avLst>
              <a:gd name="adj" fmla="val 10000"/>
            </a:avLst>
          </a:prstGeom>
          <a:solidFill>
            <a:srgbClr val="1E283C"/>
          </a:solidFill>
          <a:ln>
            <a:solidFill>
              <a:srgbClr val="3C5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286000"/>
            <a:ext cx="26517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34D399"/>
                </a:solidFill>
                <a:latin typeface="Arial"/>
              </a:rPr>
              <a:t>$991B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9260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9CA3AF"/>
                </a:solidFill>
                <a:latin typeface="Arial"/>
              </a:rPr>
              <a:t>Sports Facilities Global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42900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4B5563"/>
                </a:solidFill>
                <a:latin typeface="Arial"/>
              </a:rPr>
              <a:t>2034 • 24.3% CAGR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206240"/>
            <a:ext cx="8046720" cy="822960"/>
          </a:xfrm>
          <a:prstGeom prst="roundRect">
            <a:avLst>
              <a:gd name="adj" fmla="val 10000"/>
            </a:avLst>
          </a:prstGeom>
          <a:solidFill>
            <a:srgbClr val="1E283C"/>
          </a:solidFill>
          <a:ln>
            <a:solidFill>
              <a:srgbClr val="3C5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2976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34D399"/>
                </a:solidFill>
                <a:latin typeface="Arial"/>
              </a:rPr>
              <a:t>50K+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6634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9CA3AF"/>
                </a:solidFill>
                <a:latin typeface="Arial"/>
              </a:rPr>
              <a:t>Addressable Venues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42976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34D399"/>
                </a:solidFill>
                <a:latin typeface="Arial"/>
              </a:rPr>
              <a:t>159%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46634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9CA3AF"/>
                </a:solidFill>
                <a:latin typeface="Arial"/>
              </a:rPr>
              <a:t>Pickleball Growth (India)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2976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34D399"/>
                </a:solidFill>
                <a:latin typeface="Arial"/>
              </a:rPr>
              <a:t>20K+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6634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9CA3AF"/>
                </a:solidFill>
                <a:latin typeface="Arial"/>
              </a:rPr>
              <a:t>US Courts by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293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B7280"/>
                </a:solidFill>
                <a:latin typeface="Arial"/>
              </a:rPr>
              <a:t>06 /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365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rial"/>
              </a:rPr>
              <a:t>CourtNG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Global Court Inventory (TAM)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9CA3AF"/>
                </a:solidFill>
                <a:latin typeface="Arial"/>
              </a:rPr>
              <a:t>436,057 total courts across 4 key markets — segmented by venue type.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8046720" cy="640080"/>
          </a:xfrm>
          <a:prstGeom prst="roundRect">
            <a:avLst>
              <a:gd name="adj" fmla="val 10000"/>
            </a:avLst>
          </a:prstGeom>
          <a:solidFill>
            <a:srgbClr val="14323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488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9CA3AF"/>
                </a:solidFill>
                <a:latin typeface="Arial"/>
              </a:rPr>
              <a:t>Total Addressable Market: </a:t>
            </a:r>
            <a:r>
              <a:rPr sz="1800" b="1">
                <a:solidFill>
                  <a:srgbClr val="34D399"/>
                </a:solidFill>
                <a:latin typeface="Arial"/>
              </a:rPr>
              <a:t>436,057 Courts</a:t>
            </a:r>
            <a:r>
              <a:rPr sz="1800">
                <a:solidFill>
                  <a:srgbClr val="9CA3AF"/>
                </a:solidFill>
                <a:latin typeface="Arial"/>
              </a:rPr>
              <a:t> | Venue: 75,500 | Community: 238,400 | Residential: 122,157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788920"/>
            <a:ext cx="8046720" cy="411480"/>
          </a:xfrm>
          <a:prstGeom prst="roundRect">
            <a:avLst>
              <a:gd name="adj" fmla="val 10000"/>
            </a:avLst>
          </a:prstGeom>
          <a:solidFill>
            <a:srgbClr val="23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85292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4D399"/>
                </a:solidFill>
                <a:latin typeface="Arial"/>
              </a:rPr>
              <a:t>Country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85292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4D399"/>
                </a:solidFill>
                <a:latin typeface="Arial"/>
              </a:rPr>
              <a:t>Total Courts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852928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4D399"/>
                </a:solidFill>
                <a:latin typeface="Arial"/>
              </a:rPr>
              <a:t>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85292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4D399"/>
                </a:solidFill>
                <a:latin typeface="Arial"/>
              </a:rPr>
              <a:t>Community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85292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4D399"/>
                </a:solidFill>
                <a:latin typeface="Arial"/>
              </a:rPr>
              <a:t>Residential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200400"/>
            <a:ext cx="8046720" cy="411480"/>
          </a:xfrm>
          <a:prstGeom prst="roundRect">
            <a:avLst>
              <a:gd name="adj" fmla="val 10000"/>
            </a:avLst>
          </a:prstGeom>
          <a:solidFill>
            <a:srgbClr val="19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461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USA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32461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4D399"/>
                </a:solidFill>
                <a:latin typeface="Arial"/>
              </a:rPr>
              <a:t>293,480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2461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9CA3AF"/>
                </a:solidFill>
                <a:latin typeface="Arial"/>
              </a:rPr>
              <a:t>45,000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32461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9CA3AF"/>
                </a:solidFill>
                <a:latin typeface="Arial"/>
              </a:rPr>
              <a:t>159,400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2461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9CA3AF"/>
                </a:solidFill>
                <a:latin typeface="Arial"/>
              </a:rPr>
              <a:t>89,080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6576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France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36576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4D399"/>
                </a:solidFill>
                <a:latin typeface="Arial"/>
              </a:rPr>
              <a:t>59,235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36576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9CA3AF"/>
                </a:solidFill>
                <a:latin typeface="Arial"/>
              </a:rPr>
              <a:t>13,000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36576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9CA3AF"/>
                </a:solidFill>
                <a:latin typeface="Arial"/>
              </a:rPr>
              <a:t>31,000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6576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9CA3AF"/>
                </a:solidFill>
                <a:latin typeface="Arial"/>
              </a:rPr>
              <a:t>15,235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023360"/>
            <a:ext cx="8046720" cy="411480"/>
          </a:xfrm>
          <a:prstGeom prst="roundRect">
            <a:avLst>
              <a:gd name="adj" fmla="val 10000"/>
            </a:avLst>
          </a:prstGeom>
          <a:solidFill>
            <a:srgbClr val="19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0690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UK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40690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4D399"/>
                </a:solidFill>
                <a:latin typeface="Arial"/>
              </a:rPr>
              <a:t>55,397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406908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9CA3AF"/>
                </a:solidFill>
                <a:latin typeface="Arial"/>
              </a:rPr>
              <a:t>12,000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40690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9CA3AF"/>
                </a:solidFill>
                <a:latin typeface="Arial"/>
              </a:rPr>
              <a:t>30,000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0690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9CA3AF"/>
                </a:solidFill>
                <a:latin typeface="Arial"/>
              </a:rPr>
              <a:t>13,397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4805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India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94560" y="44805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4D399"/>
                </a:solidFill>
                <a:latin typeface="Arial"/>
              </a:rPr>
              <a:t>27,945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44805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9CA3AF"/>
                </a:solidFill>
                <a:latin typeface="Arial"/>
              </a:rPr>
              <a:t>5,500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44805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9CA3AF"/>
                </a:solidFill>
                <a:latin typeface="Arial"/>
              </a:rPr>
              <a:t>18,000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4805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9CA3AF"/>
                </a:solidFill>
                <a:latin typeface="Arial"/>
              </a:rPr>
              <a:t>4,445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937760"/>
            <a:ext cx="2606040" cy="640080"/>
          </a:xfrm>
          <a:prstGeom prst="roundRect">
            <a:avLst>
              <a:gd name="adj" fmla="val 10000"/>
            </a:avLst>
          </a:prstGeom>
          <a:solidFill>
            <a:srgbClr val="192837"/>
          </a:solidFill>
          <a:ln>
            <a:solidFill>
              <a:srgbClr val="32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501091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🇺🇸 USA Dominates
</a:t>
            </a:r>
          </a:p>
          <a:p>
            <a:r>
              <a:rPr sz="1000">
                <a:solidFill>
                  <a:srgbClr val="9CA3AF"/>
                </a:solidFill>
                <a:latin typeface="Arial"/>
              </a:rPr>
              <a:t>67% of global courts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246120" y="4937760"/>
            <a:ext cx="2606040" cy="640080"/>
          </a:xfrm>
          <a:prstGeom prst="roundRect">
            <a:avLst>
              <a:gd name="adj" fmla="val 10000"/>
            </a:avLst>
          </a:prstGeom>
          <a:solidFill>
            <a:srgbClr val="192837"/>
          </a:solidFill>
          <a:ln>
            <a:solidFill>
              <a:srgbClr val="32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83279" y="501091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🏢 Venue Focus
</a:t>
            </a:r>
          </a:p>
          <a:p>
            <a:r>
              <a:rPr sz="1000">
                <a:solidFill>
                  <a:srgbClr val="9CA3AF"/>
                </a:solidFill>
                <a:latin typeface="Arial"/>
              </a:rPr>
              <a:t>75,500 premium courts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35040" y="4937760"/>
            <a:ext cx="2606040" cy="640080"/>
          </a:xfrm>
          <a:prstGeom prst="roundRect">
            <a:avLst>
              <a:gd name="adj" fmla="val 10000"/>
            </a:avLst>
          </a:prstGeom>
          <a:solidFill>
            <a:srgbClr val="192837"/>
          </a:solidFill>
          <a:ln>
            <a:solidFill>
              <a:srgbClr val="32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72200" y="501091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📈 Growth Market
</a:t>
            </a:r>
          </a:p>
          <a:p>
            <a:r>
              <a:rPr sz="1000">
                <a:solidFill>
                  <a:srgbClr val="9CA3AF"/>
                </a:solidFill>
                <a:latin typeface="Arial"/>
              </a:rPr>
              <a:t>India +159% YoY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92D"/>
            </a:gs>
            <a:gs pos="100000">
              <a:srgbClr val="1E293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B7280"/>
                </a:solidFill>
                <a:latin typeface="Arial"/>
              </a:rPr>
              <a:t>07 /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365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rial"/>
              </a:rPr>
              <a:t>CourtNG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Market Opportunity: $815M Revenue Potential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9CA3AF"/>
                </a:solidFill>
                <a:latin typeface="Arial"/>
              </a:rPr>
              <a:t>Revenue breakdown by sport and geography with conservative adoption rates.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4D399"/>
                </a:solidFill>
                <a:latin typeface="Arial"/>
              </a:rPr>
              <a:t>📊 BY SPORT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68880"/>
            <a:ext cx="3931920" cy="640080"/>
          </a:xfrm>
          <a:prstGeom prst="roundRect">
            <a:avLst>
              <a:gd name="adj" fmla="val 10000"/>
            </a:avLst>
          </a:prstGeom>
          <a:solidFill>
            <a:srgbClr val="19283C"/>
          </a:solidFill>
          <a:ln>
            <a:solidFill>
              <a:srgbClr val="325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5603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🎾 Tennis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5603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CA3AF"/>
                </a:solidFill>
                <a:latin typeface="Arial"/>
              </a:rPr>
              <a:t>20,832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5603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4D399"/>
                </a:solidFill>
                <a:latin typeface="Arial"/>
              </a:rPr>
              <a:t>$625M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5603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B7280"/>
                </a:solidFill>
                <a:latin typeface="Arial"/>
              </a:rPr>
              <a:t>76%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246120"/>
            <a:ext cx="3931920" cy="640080"/>
          </a:xfrm>
          <a:prstGeom prst="roundRect">
            <a:avLst>
              <a:gd name="adj" fmla="val 10000"/>
            </a:avLst>
          </a:prstGeom>
          <a:solidFill>
            <a:srgbClr val="19283C"/>
          </a:solidFill>
          <a:ln>
            <a:solidFill>
              <a:srgbClr val="325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3375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🏓 Pickleball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3375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CA3AF"/>
                </a:solidFill>
                <a:latin typeface="Arial"/>
              </a:rPr>
              <a:t>5,601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33756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4D399"/>
                </a:solidFill>
                <a:latin typeface="Arial"/>
              </a:rPr>
              <a:t>$168M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33375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B7280"/>
                </a:solidFill>
                <a:latin typeface="Arial"/>
              </a:rPr>
              <a:t>21%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023360"/>
            <a:ext cx="3931920" cy="640080"/>
          </a:xfrm>
          <a:prstGeom prst="roundRect">
            <a:avLst>
              <a:gd name="adj" fmla="val 10000"/>
            </a:avLst>
          </a:prstGeom>
          <a:solidFill>
            <a:srgbClr val="19283C"/>
          </a:solidFill>
          <a:ln>
            <a:solidFill>
              <a:srgbClr val="325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114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Arial"/>
              </a:rPr>
              <a:t>🏸 Badminton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114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CA3AF"/>
                </a:solidFill>
                <a:latin typeface="Arial"/>
              </a:rPr>
              <a:t>935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411480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4D399"/>
                </a:solidFill>
                <a:latin typeface="Arial"/>
              </a:rPr>
              <a:t>$22M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4114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B7280"/>
                </a:solidFill>
                <a:latin typeface="Arial"/>
              </a:rPr>
              <a:t>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20116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4D399"/>
                </a:solidFill>
                <a:latin typeface="Arial"/>
              </a:rPr>
              <a:t>🌍 BY GEOGRAPHY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0" y="2468880"/>
            <a:ext cx="3931920" cy="530352"/>
          </a:xfrm>
          <a:prstGeom prst="roundRect">
            <a:avLst>
              <a:gd name="adj" fmla="val 10000"/>
            </a:avLst>
          </a:prstGeom>
          <a:solidFill>
            <a:srgbClr val="19283C"/>
          </a:solidFill>
          <a:ln>
            <a:solidFill>
              <a:srgbClr val="325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2542032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🇺🇸 USA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254203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18,024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254203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4D399"/>
                </a:solidFill>
                <a:latin typeface="Arial"/>
              </a:rPr>
              <a:t>$539M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254203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280"/>
                </a:solidFill>
                <a:latin typeface="Arial"/>
              </a:rPr>
              <a:t>66%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0" y="3108960"/>
            <a:ext cx="3931920" cy="530352"/>
          </a:xfrm>
          <a:prstGeom prst="roundRect">
            <a:avLst>
              <a:gd name="adj" fmla="val 10000"/>
            </a:avLst>
          </a:prstGeom>
          <a:solidFill>
            <a:srgbClr val="19283C"/>
          </a:solidFill>
          <a:ln>
            <a:solidFill>
              <a:srgbClr val="325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92040" y="3182112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🇫🇷 France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318211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3,988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318211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4D399"/>
                </a:solidFill>
                <a:latin typeface="Arial"/>
              </a:rPr>
              <a:t>$119M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318211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280"/>
                </a:solidFill>
                <a:latin typeface="Arial"/>
              </a:rPr>
              <a:t>15%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54880" y="3749039"/>
            <a:ext cx="3931920" cy="530352"/>
          </a:xfrm>
          <a:prstGeom prst="roundRect">
            <a:avLst>
              <a:gd name="adj" fmla="val 10000"/>
            </a:avLst>
          </a:prstGeom>
          <a:solidFill>
            <a:srgbClr val="19283C"/>
          </a:solidFill>
          <a:ln>
            <a:solidFill>
              <a:srgbClr val="325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92040" y="3822191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🇬🇧 UK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3822191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3,559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3822191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4D399"/>
                </a:solidFill>
                <a:latin typeface="Arial"/>
              </a:rPr>
              <a:t>$106M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0" y="3822191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280"/>
                </a:solidFill>
                <a:latin typeface="Arial"/>
              </a:rPr>
              <a:t>13%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754880" y="4389120"/>
            <a:ext cx="3931920" cy="530352"/>
          </a:xfrm>
          <a:prstGeom prst="roundRect">
            <a:avLst>
              <a:gd name="adj" fmla="val 10000"/>
            </a:avLst>
          </a:prstGeom>
          <a:solidFill>
            <a:srgbClr val="19283C"/>
          </a:solidFill>
          <a:ln>
            <a:solidFill>
              <a:srgbClr val="325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92040" y="4462272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🇮🇳 India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0" y="446227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1,797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0" y="446227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4D399"/>
                </a:solidFill>
                <a:latin typeface="Arial"/>
              </a:rPr>
              <a:t>$52M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63840" y="4462272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280"/>
                </a:solidFill>
                <a:latin typeface="Arial"/>
              </a:rPr>
              <a:t>6%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4892040"/>
            <a:ext cx="2697480" cy="731520"/>
          </a:xfrm>
          <a:prstGeom prst="roundRect">
            <a:avLst>
              <a:gd name="adj" fmla="val 10000"/>
            </a:avLst>
          </a:prstGeom>
          <a:solidFill>
            <a:srgbClr val="142D3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4937760"/>
            <a:ext cx="2697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34D399"/>
                </a:solidFill>
                <a:latin typeface="Arial"/>
              </a:rPr>
              <a:t>$2,500/mo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5303520"/>
            <a:ext cx="2697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9CA3AF"/>
                </a:solidFill>
                <a:latin typeface="Arial"/>
              </a:rPr>
              <a:t>Per Court Pricing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337560" y="4892040"/>
            <a:ext cx="2697480" cy="731520"/>
          </a:xfrm>
          <a:prstGeom prst="roundRect">
            <a:avLst>
              <a:gd name="adj" fmla="val 10000"/>
            </a:avLst>
          </a:prstGeom>
          <a:solidFill>
            <a:srgbClr val="142D3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37560" y="4937760"/>
            <a:ext cx="2697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34D399"/>
                </a:solidFill>
                <a:latin typeface="Arial"/>
              </a:rPr>
              <a:t>27,368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37560" y="5303520"/>
            <a:ext cx="2697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9CA3AF"/>
                </a:solidFill>
                <a:latin typeface="Arial"/>
              </a:rPr>
              <a:t>Addressable Courts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17920" y="4892040"/>
            <a:ext cx="2697480" cy="731520"/>
          </a:xfrm>
          <a:prstGeom prst="roundRect">
            <a:avLst>
              <a:gd name="adj" fmla="val 10000"/>
            </a:avLst>
          </a:prstGeom>
          <a:solidFill>
            <a:srgbClr val="142D3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17920" y="4937760"/>
            <a:ext cx="2697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34D399"/>
                </a:solidFill>
                <a:latin typeface="Arial"/>
              </a:rPr>
              <a:t>$815.5M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0" y="5303520"/>
            <a:ext cx="2697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9CA3AF"/>
                </a:solidFill>
                <a:latin typeface="Arial"/>
              </a:rPr>
              <a:t>Total ARR Potential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293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B7280"/>
                </a:solidFill>
                <a:latin typeface="Arial"/>
              </a:rPr>
              <a:t>08 /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365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rial"/>
              </a:rPr>
              <a:t>CourtNG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Adoption Model &amp; Revenue Projections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9CA3AF"/>
                </a:solidFill>
                <a:latin typeface="Arial"/>
              </a:rPr>
              <a:t>Conservative adoption: 10% Venue Courts + 5% Community Courts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4D399"/>
                </a:solidFill>
                <a:latin typeface="Arial"/>
              </a:rPr>
              <a:t>📍 ADOPTION BY REGION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4114800" cy="365760"/>
          </a:xfrm>
          <a:prstGeom prst="roundRect">
            <a:avLst>
              <a:gd name="adj" fmla="val 10000"/>
            </a:avLst>
          </a:prstGeom>
          <a:solidFill>
            <a:srgbClr val="233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4D399"/>
                </a:solidFill>
                <a:latin typeface="Arial"/>
              </a:rPr>
              <a:t>Region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33172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4D399"/>
                </a:solidFill>
                <a:latin typeface="Arial"/>
              </a:rPr>
              <a:t>Venue (10%)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33172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4D399"/>
                </a:solidFill>
                <a:latin typeface="Arial"/>
              </a:rPr>
              <a:t>Comm (5%)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331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4D399"/>
                </a:solidFill>
                <a:latin typeface="Arial"/>
              </a:rPr>
              <a:t>Revenue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670048"/>
            <a:ext cx="4114800" cy="347472"/>
          </a:xfrm>
          <a:prstGeom prst="roundRect">
            <a:avLst>
              <a:gd name="adj" fmla="val 10000"/>
            </a:avLst>
          </a:prstGeom>
          <a:solidFill>
            <a:srgbClr val="19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69748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USA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69748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CA3AF"/>
                </a:solidFill>
                <a:latin typeface="Arial"/>
              </a:rPr>
              <a:t>4,500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269748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CA3AF"/>
                </a:solidFill>
                <a:latin typeface="Arial"/>
              </a:rPr>
              <a:t>7,970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6974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4D399"/>
                </a:solidFill>
                <a:latin typeface="Arial"/>
              </a:rPr>
              <a:t>$374M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044952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France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044952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CA3AF"/>
                </a:solidFill>
                <a:latin typeface="Arial"/>
              </a:rPr>
              <a:t>1,300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3044952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CA3AF"/>
                </a:solidFill>
                <a:latin typeface="Arial"/>
              </a:rPr>
              <a:t>1,550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3044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4D399"/>
                </a:solidFill>
                <a:latin typeface="Arial"/>
              </a:rPr>
              <a:t>$86M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364992"/>
            <a:ext cx="4114800" cy="347472"/>
          </a:xfrm>
          <a:prstGeom prst="roundRect">
            <a:avLst>
              <a:gd name="adj" fmla="val 10000"/>
            </a:avLst>
          </a:prstGeom>
          <a:solidFill>
            <a:srgbClr val="19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392424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UK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392424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CA3AF"/>
                </a:solidFill>
                <a:latin typeface="Arial"/>
              </a:rPr>
              <a:t>1,200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3392424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CA3AF"/>
                </a:solidFill>
                <a:latin typeface="Arial"/>
              </a:rPr>
              <a:t>1,500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3392424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4D399"/>
                </a:solidFill>
                <a:latin typeface="Arial"/>
              </a:rPr>
              <a:t>$81M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739896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India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3739896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CA3AF"/>
                </a:solidFill>
                <a:latin typeface="Arial"/>
              </a:rPr>
              <a:t>550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3739896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CA3AF"/>
                </a:solidFill>
                <a:latin typeface="Arial"/>
              </a:rPr>
              <a:t>900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3739896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4D399"/>
                </a:solidFill>
                <a:latin typeface="Arial"/>
              </a:rPr>
              <a:t>$44M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087368"/>
            <a:ext cx="4114800" cy="384048"/>
          </a:xfrm>
          <a:prstGeom prst="roundRect">
            <a:avLst>
              <a:gd name="adj" fmla="val 10000"/>
            </a:avLst>
          </a:prstGeom>
          <a:solidFill>
            <a:srgbClr val="143232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142231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4D399"/>
                </a:solidFill>
                <a:latin typeface="Arial"/>
              </a:rPr>
              <a:t>TOTAL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4142231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4D399"/>
                </a:solidFill>
                <a:latin typeface="Arial"/>
              </a:rPr>
              <a:t>7,550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60320" y="4142231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4D399"/>
                </a:solidFill>
                <a:latin typeface="Arial"/>
              </a:rPr>
              <a:t>11,920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4142231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4D399"/>
                </a:solidFill>
                <a:latin typeface="Arial"/>
              </a:rPr>
              <a:t>$584M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0" y="1965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4D399"/>
                </a:solidFill>
                <a:latin typeface="Arial"/>
              </a:rPr>
              <a:t>💰 UNIT ECONOMICS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46320" y="2331720"/>
            <a:ext cx="3840480" cy="548640"/>
          </a:xfrm>
          <a:prstGeom prst="roundRect">
            <a:avLst>
              <a:gd name="adj" fmla="val 10000"/>
            </a:avLst>
          </a:prstGeom>
          <a:solidFill>
            <a:srgbClr val="192D37"/>
          </a:solidFill>
          <a:ln>
            <a:solidFill>
              <a:srgbClr val="32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83480" y="240487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34D399"/>
                </a:solidFill>
                <a:latin typeface="Arial"/>
              </a:rPr>
              <a:t>$348K-435K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244144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Lifetime Value (LTV) per court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46320" y="2971800"/>
            <a:ext cx="3840480" cy="548640"/>
          </a:xfrm>
          <a:prstGeom prst="roundRect">
            <a:avLst>
              <a:gd name="adj" fmla="val 10000"/>
            </a:avLst>
          </a:prstGeom>
          <a:solidFill>
            <a:srgbClr val="192D37"/>
          </a:solidFill>
          <a:ln>
            <a:solidFill>
              <a:srgbClr val="32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83480" y="304495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34D399"/>
                </a:solidFill>
                <a:latin typeface="Arial"/>
              </a:rPr>
              <a:t>$15K-20K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308152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Customer Acquisition Cost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846320" y="3611879"/>
            <a:ext cx="3840480" cy="548640"/>
          </a:xfrm>
          <a:prstGeom prst="roundRect">
            <a:avLst>
              <a:gd name="adj" fmla="val 10000"/>
            </a:avLst>
          </a:prstGeom>
          <a:solidFill>
            <a:srgbClr val="192D37"/>
          </a:solidFill>
          <a:ln>
            <a:solidFill>
              <a:srgbClr val="32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83480" y="3685031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34D399"/>
                </a:solidFill>
                <a:latin typeface="Arial"/>
              </a:rPr>
              <a:t>17:1 - 29:1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3721607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LTV:CAC Ratio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846320" y="4251959"/>
            <a:ext cx="3840480" cy="548640"/>
          </a:xfrm>
          <a:prstGeom prst="roundRect">
            <a:avLst>
              <a:gd name="adj" fmla="val 10000"/>
            </a:avLst>
          </a:prstGeom>
          <a:solidFill>
            <a:srgbClr val="192D37"/>
          </a:solidFill>
          <a:ln>
            <a:solidFill>
              <a:srgbClr val="32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983480" y="432511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34D399"/>
                </a:solidFill>
                <a:latin typeface="Arial"/>
              </a:rPr>
              <a:t>7-9 months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436168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Payback Period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4846320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142D3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4937760"/>
            <a:ext cx="4023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34D399"/>
                </a:solidFill>
                <a:latin typeface="Arial"/>
              </a:rPr>
              <a:t>$48.7M </a:t>
            </a:r>
            <a:r>
              <a:rPr sz="1400">
                <a:solidFill>
                  <a:srgbClr val="9CA3AF"/>
                </a:solidFill>
                <a:latin typeface="Arial"/>
              </a:rPr>
              <a:t>Monthly Recurring Revenue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80560" y="4937760"/>
            <a:ext cx="4023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34D399"/>
                </a:solidFill>
                <a:latin typeface="Arial"/>
              </a:rPr>
              <a:t>$584M </a:t>
            </a:r>
            <a:r>
              <a:rPr sz="1400">
                <a:solidFill>
                  <a:srgbClr val="9CA3AF"/>
                </a:solidFill>
                <a:latin typeface="Arial"/>
              </a:rPr>
              <a:t>Annual Recurring Revenue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293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B7280"/>
                </a:solidFill>
                <a:latin typeface="Arial"/>
              </a:rPr>
              <a:t>06 /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365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rial"/>
              </a:rPr>
              <a:t>CourtNG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Product: Core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9CA3AF"/>
                </a:solidFill>
                <a:latin typeface="Arial"/>
              </a:rPr>
              <a:t>Everything a court needs to run itself — in one unified platform.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2697480" cy="1371600"/>
          </a:xfrm>
          <a:prstGeom prst="roundRect">
            <a:avLst>
              <a:gd name="adj" fmla="val 10000"/>
            </a:avLst>
          </a:prstGeom>
          <a:solidFill>
            <a:srgbClr val="192332"/>
          </a:solidFill>
          <a:ln>
            <a:solidFill>
              <a:srgbClr val="32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25880" y="2240279"/>
            <a:ext cx="594360" cy="59436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0B981"/>
              </a:gs>
              <a:gs pos="100000">
                <a:srgbClr val="06B6D4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2267712"/>
            <a:ext cx="594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/>
              <a:t>👁️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2514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Computer Vision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54679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9CA3AF"/>
                </a:solidFill>
                <a:latin typeface="Arial"/>
              </a:rPr>
              <a:t>Multi-camera ball &amp; player tracking with sub-centimeter precision.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2103120"/>
            <a:ext cx="2697480" cy="1371600"/>
          </a:xfrm>
          <a:prstGeom prst="roundRect">
            <a:avLst>
              <a:gd name="adj" fmla="val 10000"/>
            </a:avLst>
          </a:prstGeom>
          <a:solidFill>
            <a:srgbClr val="192332"/>
          </a:solidFill>
          <a:ln>
            <a:solidFill>
              <a:srgbClr val="32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06240" y="2240279"/>
            <a:ext cx="594360" cy="59436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0B981"/>
              </a:gs>
              <a:gs pos="100000">
                <a:srgbClr val="06B6D4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2267712"/>
            <a:ext cx="594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/>
              <a:t>⚙️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880360"/>
            <a:ext cx="2514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Rules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3154679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9CA3AF"/>
                </a:solidFill>
                <a:latin typeface="Arial"/>
              </a:rPr>
              <a:t>Declarative, configurable rules for any sport.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103120"/>
            <a:ext cx="2697480" cy="1371600"/>
          </a:xfrm>
          <a:prstGeom prst="roundRect">
            <a:avLst>
              <a:gd name="adj" fmla="val 10000"/>
            </a:avLst>
          </a:prstGeom>
          <a:solidFill>
            <a:srgbClr val="192332"/>
          </a:solidFill>
          <a:ln>
            <a:solidFill>
              <a:srgbClr val="32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086600" y="2240279"/>
            <a:ext cx="594360" cy="59436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0B981"/>
              </a:gs>
              <a:gs pos="100000">
                <a:srgbClr val="06B6D4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86600" y="2267712"/>
            <a:ext cx="594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/>
              <a:t>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2880360"/>
            <a:ext cx="2514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Event 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3154679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9CA3AF"/>
                </a:solidFill>
                <a:latin typeface="Arial"/>
              </a:rPr>
              <a:t>Real-time rally detection, scoring, game flow.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657600"/>
            <a:ext cx="2697480" cy="1371600"/>
          </a:xfrm>
          <a:prstGeom prst="roundRect">
            <a:avLst>
              <a:gd name="adj" fmla="val 10000"/>
            </a:avLst>
          </a:prstGeom>
          <a:solidFill>
            <a:srgbClr val="192332"/>
          </a:solidFill>
          <a:ln>
            <a:solidFill>
              <a:srgbClr val="32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325880" y="3794760"/>
            <a:ext cx="594360" cy="59436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0B981"/>
              </a:gs>
              <a:gs pos="100000">
                <a:srgbClr val="06B6D4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25880" y="3822191"/>
            <a:ext cx="594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/>
              <a:t>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434840"/>
            <a:ext cx="2514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Live 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70916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9CA3AF"/>
                </a:solidFill>
                <a:latin typeface="Arial"/>
              </a:rPr>
              <a:t>Player stats, heatmaps, performance metrics.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37560" y="3657600"/>
            <a:ext cx="2697480" cy="1371600"/>
          </a:xfrm>
          <a:prstGeom prst="roundRect">
            <a:avLst>
              <a:gd name="adj" fmla="val 10000"/>
            </a:avLst>
          </a:prstGeom>
          <a:solidFill>
            <a:srgbClr val="192332"/>
          </a:solidFill>
          <a:ln>
            <a:solidFill>
              <a:srgbClr val="32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206240" y="3794760"/>
            <a:ext cx="594360" cy="59436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0B981"/>
              </a:gs>
              <a:gs pos="100000">
                <a:srgbClr val="06B6D4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6240" y="3822191"/>
            <a:ext cx="594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/>
              <a:t>🖥️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4434840"/>
            <a:ext cx="2514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Admin 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470916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9CA3AF"/>
                </a:solidFill>
                <a:latin typeface="Arial"/>
              </a:rPr>
              <a:t>Full control over courts, matches, and settings.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3657600"/>
            <a:ext cx="2697480" cy="1371600"/>
          </a:xfrm>
          <a:prstGeom prst="roundRect">
            <a:avLst>
              <a:gd name="adj" fmla="val 10000"/>
            </a:avLst>
          </a:prstGeom>
          <a:solidFill>
            <a:srgbClr val="192332"/>
          </a:solidFill>
          <a:ln>
            <a:solidFill>
              <a:srgbClr val="32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086600" y="3794760"/>
            <a:ext cx="594360" cy="59436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0B981"/>
              </a:gs>
              <a:gs pos="100000">
                <a:srgbClr val="06B6D4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86600" y="3822191"/>
            <a:ext cx="594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/>
              <a:t>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59" y="4434840"/>
            <a:ext cx="2514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Mobile Apps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59" y="470916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9CA3AF"/>
                </a:solidFill>
                <a:latin typeface="Arial"/>
              </a:rPr>
              <a:t>Player apps for stats, booking, and social.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2323"/>
            </a:gs>
            <a:gs pos="100000">
              <a:srgbClr val="1E293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B7280"/>
                </a:solidFill>
                <a:latin typeface="Arial"/>
              </a:rPr>
              <a:t>07 /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365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rial"/>
              </a:rPr>
              <a:t>CourtNG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Product: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9CA3AF"/>
                </a:solidFill>
                <a:latin typeface="Arial"/>
              </a:rPr>
              <a:t>Modular, upgradeable, and built for scale from day 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03120"/>
            <a:ext cx="3291840" cy="914400"/>
          </a:xfrm>
          <a:prstGeom prst="roundRect">
            <a:avLst>
              <a:gd name="adj" fmla="val 10000"/>
            </a:avLst>
          </a:prstGeom>
          <a:solidFill>
            <a:srgbClr val="192832"/>
          </a:solidFill>
          <a:ln>
            <a:solidFill>
              <a:srgbClr val="32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4D399"/>
                </a:solidFill>
                <a:latin typeface="Arial"/>
              </a:rPr>
              <a:t>📹 Vision 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Arial"/>
              </a:rPr>
              <a:t>Multi-camera, ball/player tracking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2103120"/>
            <a:ext cx="3291840" cy="914400"/>
          </a:xfrm>
          <a:prstGeom prst="roundRect">
            <a:avLst>
              <a:gd name="adj" fmla="val 10000"/>
            </a:avLst>
          </a:prstGeom>
          <a:solidFill>
            <a:srgbClr val="192832"/>
          </a:solidFill>
          <a:ln>
            <a:solidFill>
              <a:srgbClr val="32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1945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4D399"/>
                </a:solidFill>
                <a:latin typeface="Arial"/>
              </a:rPr>
              <a:t>📐 Rules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56032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Arial"/>
              </a:rPr>
              <a:t>Sport-agnostic, declarative rules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200400"/>
            <a:ext cx="6949440" cy="82296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291840"/>
            <a:ext cx="6949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🧠 CourtNG 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11880"/>
            <a:ext cx="6949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DCFFF0"/>
                </a:solidFill>
                <a:latin typeface="Arial"/>
              </a:rPr>
              <a:t>Orchestration • State Machine • Event Bus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206240"/>
            <a:ext cx="3291840" cy="914400"/>
          </a:xfrm>
          <a:prstGeom prst="roundRect">
            <a:avLst>
              <a:gd name="adj" fmla="val 10000"/>
            </a:avLst>
          </a:prstGeom>
          <a:solidFill>
            <a:srgbClr val="192832"/>
          </a:solidFill>
          <a:ln>
            <a:solidFill>
              <a:srgbClr val="32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29768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4D399"/>
                </a:solidFill>
                <a:latin typeface="Arial"/>
              </a:rPr>
              <a:t>🎯 Event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61772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Arial"/>
              </a:rPr>
              <a:t>Rally detection, scoring, game flow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4206240"/>
            <a:ext cx="3291840" cy="914400"/>
          </a:xfrm>
          <a:prstGeom prst="roundRect">
            <a:avLst>
              <a:gd name="adj" fmla="val 10000"/>
            </a:avLst>
          </a:prstGeom>
          <a:solidFill>
            <a:srgbClr val="192832"/>
          </a:solidFill>
          <a:ln>
            <a:solidFill>
              <a:srgbClr val="32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429768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4D399"/>
                </a:solidFill>
                <a:latin typeface="Arial"/>
              </a:rPr>
              <a:t>📊 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61772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Arial"/>
              </a:rPr>
              <a:t>Live dashboards, statistics, cloud sync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293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B7280"/>
                </a:solidFill>
                <a:latin typeface="Arial"/>
              </a:rPr>
              <a:t>08 /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365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rial"/>
              </a:rPr>
              <a:t>CourtNG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Why CourtNG is </a:t>
            </a:r>
            <a:r>
              <a:rPr sz="4000" b="1">
                <a:solidFill>
                  <a:srgbClr val="34D399"/>
                </a:solidFill>
                <a:latin typeface="Arial"/>
              </a:rPr>
              <a:t>Different</a:t>
            </a:r>
            <a:r>
              <a:rPr sz="40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9CA3AF"/>
                </a:solidFill>
                <a:latin typeface="Arial"/>
              </a:rPr>
              <a:t>Not just another sports tech solution — a complete paradigm shift.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8046720" cy="868680"/>
          </a:xfrm>
          <a:prstGeom prst="roundRect">
            <a:avLst>
              <a:gd name="adj" fmla="val 10000"/>
            </a:avLst>
          </a:prstGeom>
          <a:solidFill>
            <a:srgbClr val="192332"/>
          </a:solidFill>
          <a:ln>
            <a:solidFill>
              <a:srgbClr val="32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502920" cy="50292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10B981"/>
              </a:gs>
              <a:gs pos="100000">
                <a:srgbClr val="06B6D4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/>
              <a:t>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240279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rial"/>
              </a:rPr>
              <a:t>Fully Autonomous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5603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CA3AF"/>
                </a:solidFill>
                <a:latin typeface="Arial"/>
              </a:rPr>
              <a:t>Not an "assist" layer — CourtNG runs the entire match end-to-end, from first serve to game over.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108960"/>
            <a:ext cx="8046720" cy="868680"/>
          </a:xfrm>
          <a:prstGeom prst="roundRect">
            <a:avLst>
              <a:gd name="adj" fmla="val 10000"/>
            </a:avLst>
          </a:prstGeom>
          <a:solidFill>
            <a:srgbClr val="192332"/>
          </a:solidFill>
          <a:ln>
            <a:solidFill>
              <a:srgbClr val="32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3291840"/>
            <a:ext cx="502920" cy="50292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10B981"/>
              </a:gs>
              <a:gs pos="100000">
                <a:srgbClr val="06B6D4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310128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/>
              <a:t>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4612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rial"/>
              </a:rPr>
              <a:t>Sport-Agnostic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5661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CA3AF"/>
                </a:solidFill>
                <a:latin typeface="Arial"/>
              </a:rPr>
              <a:t>Single platform configures for tennis, pickleball, badminton, futsal — and more to come.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114800"/>
            <a:ext cx="8046720" cy="868680"/>
          </a:xfrm>
          <a:prstGeom prst="roundRect">
            <a:avLst>
              <a:gd name="adj" fmla="val 10000"/>
            </a:avLst>
          </a:prstGeom>
          <a:solidFill>
            <a:srgbClr val="192332"/>
          </a:solidFill>
          <a:ln>
            <a:solidFill>
              <a:srgbClr val="32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4297680"/>
            <a:ext cx="502920" cy="50292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10B981"/>
              </a:gs>
              <a:gs pos="100000">
                <a:srgbClr val="06B6D4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315968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/>
              <a:t>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25196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rial"/>
              </a:rPr>
              <a:t>Edge-First 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5720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CA3AF"/>
                </a:solidFill>
                <a:latin typeface="Arial"/>
              </a:rPr>
              <a:t>On-premise inference with sub-50ms latency. Works offline. No cloud dependency.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120640"/>
            <a:ext cx="8046720" cy="868680"/>
          </a:xfrm>
          <a:prstGeom prst="roundRect">
            <a:avLst>
              <a:gd name="adj" fmla="val 10000"/>
            </a:avLst>
          </a:prstGeom>
          <a:solidFill>
            <a:srgbClr val="192332"/>
          </a:solidFill>
          <a:ln>
            <a:solidFill>
              <a:srgbClr val="32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" y="5303520"/>
            <a:ext cx="502920" cy="50292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10B981"/>
              </a:gs>
              <a:gs pos="100000">
                <a:srgbClr val="06B6D4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321807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/>
              <a:t>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2578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rial"/>
              </a:rPr>
              <a:t>Modular &amp; Upgradeable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5778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CA3AF"/>
                </a:solidFill>
                <a:latin typeface="Arial"/>
              </a:rPr>
              <a:t>Vision, Rules, Events, and Analytics are swappable. AI models upgrade independently.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432"/>
            </a:gs>
            <a:gs pos="100000">
              <a:srgbClr val="1E293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B7280"/>
                </a:solidFill>
                <a:latin typeface="Arial"/>
              </a:rPr>
              <a:t>09 /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365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rial"/>
              </a:rPr>
              <a:t>CourtNG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9CA3AF"/>
                </a:solidFill>
                <a:latin typeface="Arial"/>
              </a:rPr>
              <a:t>SaaS subscription + hardware bundle = predictable revenue + high margins.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2697480" cy="2697480"/>
          </a:xfrm>
          <a:prstGeom prst="roundRect">
            <a:avLst>
              <a:gd name="adj" fmla="val 10000"/>
            </a:avLst>
          </a:prstGeom>
          <a:solidFill>
            <a:srgbClr val="1E283C"/>
          </a:solidFill>
          <a:ln>
            <a:solidFill>
              <a:srgbClr val="3C5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4D399"/>
                </a:solidFill>
                <a:latin typeface="Arial"/>
              </a:rPr>
              <a:t>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Arial"/>
              </a:rPr>
              <a:t>$500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280"/>
                </a:solidFill>
                <a:latin typeface="Arial"/>
              </a:rPr>
              <a:t>/month per court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83279"/>
            <a:ext cx="2468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CA3AF"/>
                </a:solidFill>
                <a:latin typeface="Arial"/>
              </a:rPr>
              <a:t>✓ Single court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39311"/>
            <a:ext cx="2468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CA3AF"/>
                </a:solidFill>
                <a:latin typeface="Arial"/>
              </a:rPr>
              <a:t>✓ Basic scoring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95344"/>
            <a:ext cx="2468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CA3AF"/>
                </a:solidFill>
                <a:latin typeface="Arial"/>
              </a:rPr>
              <a:t>✓ Local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151376"/>
            <a:ext cx="2468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CA3AF"/>
                </a:solidFill>
                <a:latin typeface="Arial"/>
              </a:rPr>
              <a:t>✓ Email support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1920240"/>
            <a:ext cx="2880360" cy="292608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210312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8FFE6"/>
                </a:solidFill>
                <a:latin typeface="Arial"/>
              </a:rPr>
              <a:t>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37744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Arial"/>
              </a:rPr>
              <a:t>$1,000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283464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C8FFE6"/>
                </a:solidFill>
                <a:latin typeface="Arial"/>
              </a:rPr>
              <a:t>/month for 2-5 courts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3200400"/>
            <a:ext cx="2468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DCFFF0"/>
                </a:solidFill>
                <a:latin typeface="Arial"/>
              </a:rPr>
              <a:t>✓ 2-5 courts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3456432"/>
            <a:ext cx="2468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DCFFF0"/>
                </a:solidFill>
                <a:latin typeface="Arial"/>
              </a:rPr>
              <a:t>✓ Full analytics suite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3712464"/>
            <a:ext cx="2468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DCFFF0"/>
                </a:solidFill>
                <a:latin typeface="Arial"/>
              </a:rPr>
              <a:t>✓ Mobile app access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3968496"/>
            <a:ext cx="2468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DCFFF0"/>
                </a:solidFill>
                <a:latin typeface="Arial"/>
              </a:rPr>
              <a:t>✓ Leaderboards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4224528"/>
            <a:ext cx="2468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DCFFF0"/>
                </a:solidFill>
                <a:latin typeface="Arial"/>
              </a:rPr>
              <a:t>✓ Priority support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103120"/>
            <a:ext cx="2697480" cy="2697480"/>
          </a:xfrm>
          <a:prstGeom prst="roundRect">
            <a:avLst>
              <a:gd name="adj" fmla="val 10000"/>
            </a:avLst>
          </a:prstGeom>
          <a:solidFill>
            <a:srgbClr val="1E283C"/>
          </a:solidFill>
          <a:ln>
            <a:solidFill>
              <a:srgbClr val="3C5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228600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4D399"/>
                </a:solidFill>
                <a:latin typeface="Arial"/>
              </a:rPr>
              <a:t>ENTERPRISE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6032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Arial"/>
              </a:rPr>
              <a:t>$2,000+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01752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280"/>
                </a:solidFill>
                <a:latin typeface="Arial"/>
              </a:rPr>
              <a:t>/month unlimited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383279"/>
            <a:ext cx="2468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CA3AF"/>
                </a:solidFill>
                <a:latin typeface="Arial"/>
              </a:rPr>
              <a:t>✓ Unlimited courts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639311"/>
            <a:ext cx="2468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CA3AF"/>
                </a:solidFill>
                <a:latin typeface="Arial"/>
              </a:rPr>
              <a:t>✓ Custom rules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895344"/>
            <a:ext cx="2468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CA3AF"/>
                </a:solidFill>
                <a:latin typeface="Arial"/>
              </a:rPr>
              <a:t>✓ Full API access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151376"/>
            <a:ext cx="2468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CA3AF"/>
                </a:solidFill>
                <a:latin typeface="Arial"/>
              </a:rPr>
              <a:t>✓ Cloud sync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407408"/>
            <a:ext cx="2468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CA3AF"/>
                </a:solidFill>
                <a:latin typeface="Arial"/>
              </a:rPr>
              <a:t>✓ Dedicated manager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983480"/>
            <a:ext cx="8046720" cy="411480"/>
          </a:xfrm>
          <a:prstGeom prst="roundRect">
            <a:avLst>
              <a:gd name="adj" fmla="val 10000"/>
            </a:avLst>
          </a:prstGeom>
          <a:solidFill>
            <a:srgbClr val="1E283C"/>
          </a:solidFill>
          <a:ln>
            <a:solidFill>
              <a:srgbClr val="3C5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02920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9CA3AF"/>
                </a:solidFill>
                <a:latin typeface="Arial"/>
              </a:rPr>
              <a:t>Hardware Bundle: NVIDIA Jetson + Cameras + PoE Network = </a:t>
            </a:r>
            <a:r>
              <a:rPr sz="1200" b="1">
                <a:solidFill>
                  <a:srgbClr val="FFFFFF"/>
                </a:solidFill>
                <a:latin typeface="Arial"/>
              </a:rPr>
              <a:t>$8K–$15K</a:t>
            </a:r>
            <a:r>
              <a:rPr sz="1200">
                <a:solidFill>
                  <a:srgbClr val="9CA3AF"/>
                </a:solidFill>
                <a:latin typeface="Arial"/>
              </a:rPr>
              <a:t> one-time setup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293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B7280"/>
                </a:solidFill>
                <a:latin typeface="Arial"/>
              </a:rPr>
              <a:t>10 /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365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rial"/>
              </a:rPr>
              <a:t>CourtNG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Competitive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9CA3AF"/>
                </a:solidFill>
                <a:latin typeface="Arial"/>
              </a:rPr>
              <a:t>Current solutions are expensive, limited, or both. We're changing that.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8046720" cy="457200"/>
          </a:xfrm>
          <a:prstGeom prst="roundRect">
            <a:avLst>
              <a:gd name="adj" fmla="val 10000"/>
            </a:avLst>
          </a:prstGeom>
          <a:solidFill>
            <a:srgbClr val="232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76272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9CA3AF"/>
                </a:solidFill>
                <a:latin typeface="Arial"/>
              </a:rPr>
              <a:t>Company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217627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9CA3AF"/>
                </a:solidFill>
                <a:latin typeface="Arial"/>
              </a:rPr>
              <a:t>Autonomous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217627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9CA3AF"/>
                </a:solidFill>
                <a:latin typeface="Arial"/>
              </a:rPr>
              <a:t>Multi-Sport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217627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9CA3AF"/>
                </a:solidFill>
                <a:latin typeface="Arial"/>
              </a:rPr>
              <a:t>Cost/Court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7627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9CA3AF"/>
                </a:solidFill>
                <a:latin typeface="Arial"/>
              </a:rPr>
              <a:t>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060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Hawk-Eye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26060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59E0B"/>
                </a:solidFill>
                <a:latin typeface="Arial"/>
              </a:rPr>
              <a:t>⚠️ Assist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6060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EF4444"/>
                </a:solidFill>
                <a:latin typeface="Arial"/>
              </a:rPr>
              <a:t>❌ 1-2 Sports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6060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EF4444"/>
                </a:solidFill>
                <a:latin typeface="Arial"/>
              </a:rPr>
              <a:t>$60K+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6060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CA3AF"/>
                </a:solidFill>
                <a:latin typeface="Arial"/>
              </a:rPr>
              <a:t>Elite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0632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PlaySight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30632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59E0B"/>
                </a:solidFill>
                <a:latin typeface="Arial"/>
              </a:rPr>
              <a:t>⚠️ Assist 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30632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EF4444"/>
                </a:solidFill>
                <a:latin typeface="Arial"/>
              </a:rPr>
              <a:t>❌ Tennis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30632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59E0B"/>
                </a:solidFill>
                <a:latin typeface="Arial"/>
              </a:rPr>
              <a:t>$20K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0632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CA3AF"/>
                </a:solidFill>
                <a:latin typeface="Arial"/>
              </a:rPr>
              <a:t>Academies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5204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SwingVision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35204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59E0B"/>
                </a:solidFill>
                <a:latin typeface="Arial"/>
              </a:rPr>
              <a:t>⚠️ Assist 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35204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EF4444"/>
                </a:solidFill>
                <a:latin typeface="Arial"/>
              </a:rPr>
              <a:t>❌ Tennis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35204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2C55E"/>
                </a:solidFill>
                <a:latin typeface="Arial"/>
              </a:rPr>
              <a:t>App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5204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CA3AF"/>
                </a:solidFill>
                <a:latin typeface="Arial"/>
              </a:rPr>
              <a:t>Consumers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977639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Wingfield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40" y="3977639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59E0B"/>
                </a:solidFill>
                <a:latin typeface="Arial"/>
              </a:rPr>
              <a:t>⚠️ Assist Only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39" y="3977639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EF4444"/>
                </a:solidFill>
                <a:latin typeface="Arial"/>
              </a:rPr>
              <a:t>❌ Tennis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3977639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59E0B"/>
                </a:solidFill>
                <a:latin typeface="Arial"/>
              </a:rPr>
              <a:t>$15K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977639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9CA3AF"/>
                </a:solidFill>
                <a:latin typeface="Arial"/>
              </a:rPr>
              <a:t>Clubs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389120"/>
            <a:ext cx="8046720" cy="502920"/>
          </a:xfrm>
          <a:prstGeom prst="roundRect">
            <a:avLst>
              <a:gd name="adj" fmla="val 10000"/>
            </a:avLst>
          </a:prstGeom>
          <a:solidFill>
            <a:srgbClr val="143C32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480559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4D399"/>
                </a:solidFill>
                <a:latin typeface="Arial"/>
              </a:rPr>
              <a:t>CourtNG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77440" y="4480559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B981"/>
                </a:solidFill>
                <a:latin typeface="Arial"/>
              </a:rPr>
              <a:t>✅ Full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9039" y="4480559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B981"/>
                </a:solidFill>
                <a:latin typeface="Arial"/>
              </a:rPr>
              <a:t>✅ 4+ Sports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4480559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0B981"/>
                </a:solidFill>
                <a:latin typeface="Arial"/>
              </a:rPr>
              <a:t>$8-15K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4480559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4D399"/>
                </a:solidFill>
                <a:latin typeface="Arial"/>
              </a:rPr>
              <a:t>Everyone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2323"/>
            </a:gs>
            <a:gs pos="100000">
              <a:srgbClr val="1E293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B7280"/>
                </a:solidFill>
                <a:latin typeface="Arial"/>
              </a:rPr>
              <a:t>11 /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365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rial"/>
              </a:rPr>
              <a:t>CourtNG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Our Competitive </a:t>
            </a:r>
            <a:r>
              <a:rPr sz="4000" b="1">
                <a:solidFill>
                  <a:srgbClr val="34D399"/>
                </a:solidFill>
                <a:latin typeface="Arial"/>
              </a:rPr>
              <a:t>Moat</a:t>
            </a:r>
            <a:r>
              <a:rPr sz="40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9CA3AF"/>
                </a:solidFill>
                <a:latin typeface="Arial"/>
              </a:rPr>
              <a:t>Multiple defensible advantages that compound over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3931920" cy="1371600"/>
          </a:xfrm>
          <a:prstGeom prst="roundRect">
            <a:avLst>
              <a:gd name="adj" fmla="val 10000"/>
            </a:avLst>
          </a:prstGeom>
          <a:solidFill>
            <a:srgbClr val="14322D"/>
          </a:solidFill>
          <a:ln>
            <a:solidFill>
              <a:srgbClr val="286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548640" cy="54864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0B981"/>
              </a:gs>
              <a:gs pos="100000">
                <a:srgbClr val="06B6D4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59152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/>
              <a:t>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2860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rial"/>
              </a:rPr>
              <a:t>End-to-End Automation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6517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Hawk-Eye only does line calling. We own the entire match — from check-in to final score.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103120"/>
            <a:ext cx="3931920" cy="1371600"/>
          </a:xfrm>
          <a:prstGeom prst="roundRect">
            <a:avLst>
              <a:gd name="adj" fmla="val 10000"/>
            </a:avLst>
          </a:prstGeom>
          <a:solidFill>
            <a:srgbClr val="14322D"/>
          </a:solidFill>
          <a:ln>
            <a:solidFill>
              <a:srgbClr val="286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0" y="2331720"/>
            <a:ext cx="548640" cy="54864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0B981"/>
              </a:gs>
              <a:gs pos="100000">
                <a:srgbClr val="06B6D4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2359152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/>
              <a:t>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80" y="22860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rial"/>
              </a:rPr>
              <a:t>Sport-Agnostic 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26517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Competitors are single-sport. Our rules engine scales across tennis, pickleball, badminton, futsal.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749039"/>
            <a:ext cx="3931920" cy="1371600"/>
          </a:xfrm>
          <a:prstGeom prst="roundRect">
            <a:avLst>
              <a:gd name="adj" fmla="val 10000"/>
            </a:avLst>
          </a:prstGeom>
          <a:solidFill>
            <a:srgbClr val="14322D"/>
          </a:solidFill>
          <a:ln>
            <a:solidFill>
              <a:srgbClr val="286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3977639"/>
            <a:ext cx="548640" cy="54864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0B981"/>
              </a:gs>
              <a:gs pos="100000">
                <a:srgbClr val="06B6D4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005072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/>
              <a:t>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93192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rial"/>
              </a:rPr>
              <a:t>5-10x Cost Advantage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297679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Hawk-Eye: $60K/court. CourtNG: $8-15K. We unlock 99% of venues they can't serve.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3749039"/>
            <a:ext cx="3931920" cy="1371600"/>
          </a:xfrm>
          <a:prstGeom prst="roundRect">
            <a:avLst>
              <a:gd name="adj" fmla="val 10000"/>
            </a:avLst>
          </a:prstGeom>
          <a:solidFill>
            <a:srgbClr val="14322D"/>
          </a:solidFill>
          <a:ln>
            <a:solidFill>
              <a:srgbClr val="286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754880" y="3977639"/>
            <a:ext cx="548640" cy="54864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0B981"/>
              </a:gs>
              <a:gs pos="100000">
                <a:srgbClr val="06B6D4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4005072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/>
              <a:t>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393192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rial"/>
              </a:rPr>
              <a:t>Full-Stack Integration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0680" y="4297679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No competitor automates officiating + scoring + UX together. This is our moat.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293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B7280"/>
                </a:solidFill>
                <a:latin typeface="Arial"/>
              </a:rPr>
              <a:t>12 /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365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Arial"/>
              </a:rPr>
              <a:t>CourtNG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94760" y="1188720"/>
            <a:ext cx="1371600" cy="13716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10B981"/>
              </a:gs>
              <a:gs pos="100000">
                <a:srgbClr val="06B6D4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794760" y="1463040"/>
            <a:ext cx="1371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>
                <a:solidFill>
                  <a:srgbClr val="FFFFFF"/>
                </a:solidFill>
              </a:rPr>
              <a:t>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600" b="1">
                <a:solidFill>
                  <a:srgbClr val="34D399"/>
                </a:solidFill>
                <a:latin typeface="Arial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9CA3AF"/>
                </a:solidFill>
                <a:latin typeface="Arial"/>
              </a:rPr>
              <a:t>Let's build the future of sports together.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B7280"/>
                </a:solidFill>
                <a:latin typeface="Arial"/>
              </a:rPr>
              <a:t>CourtNG — The Operating System for Courts That Run Themselves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4480560"/>
            <a:ext cx="2103120" cy="411480"/>
          </a:xfrm>
          <a:prstGeom prst="roundRect">
            <a:avLst>
              <a:gd name="adj" fmla="val 50000"/>
            </a:avLst>
          </a:prstGeom>
          <a:solidFill>
            <a:srgbClr val="1E2837"/>
          </a:solidFill>
          <a:ln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454456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9CA3AF"/>
                </a:solidFill>
                <a:latin typeface="Arial"/>
              </a:rPr>
              <a:t>📧 hello@courtng.com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80" y="4480560"/>
            <a:ext cx="2103120" cy="411480"/>
          </a:xfrm>
          <a:prstGeom prst="roundRect">
            <a:avLst>
              <a:gd name="adj" fmla="val 50000"/>
            </a:avLst>
          </a:prstGeom>
          <a:solidFill>
            <a:srgbClr val="1E2837"/>
          </a:solidFill>
          <a:ln>
            <a:solidFill>
              <a:srgbClr val="32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454456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9CA3AF"/>
                </a:solidFill>
                <a:latin typeface="Arial"/>
              </a:rPr>
              <a:t>🌐 www.courtng.com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5120640"/>
            <a:ext cx="2560320" cy="411480"/>
          </a:xfrm>
          <a:prstGeom prst="roundRect">
            <a:avLst>
              <a:gd name="adj" fmla="val 50000"/>
            </a:avLst>
          </a:prstGeom>
          <a:solidFill>
            <a:srgbClr val="1E2D37"/>
          </a:solidFill>
          <a:ln>
            <a:solidFill>
              <a:srgbClr val="32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5184648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34D399"/>
                </a:solidFill>
                <a:latin typeface="Arial"/>
              </a:rPr>
              <a:t>● Seeking $1M Seed Round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