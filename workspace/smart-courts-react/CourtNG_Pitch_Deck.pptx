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71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293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794760" y="1097280"/>
            <a:ext cx="1371600" cy="1371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94760" y="137160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>
                <a:solidFill>
                  <a:srgbClr val="FFFFFF"/>
                </a:solidFill>
              </a:rPr>
              <a:t>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Arial"/>
              </a:rPr>
              <a:t>Court</a:t>
            </a:r>
            <a:r>
              <a:rPr sz="7200" b="1">
                <a:solidFill>
                  <a:srgbClr val="34D399"/>
                </a:solidFill>
                <a:latin typeface="Arial"/>
              </a:rPr>
              <a:t>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9CA3AF"/>
                </a:solidFill>
                <a:latin typeface="Arial"/>
              </a:rPr>
              <a:t>The Operating System for Intelligent Courts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20624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6B7280"/>
                </a:solidFill>
                <a:latin typeface="Arial"/>
              </a:rPr>
              <a:t>AI-powered court automation that officiates games, calls every line, and delivers real-time analytics — without human intervention.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5029200"/>
            <a:ext cx="2560320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>
            <a:solidFill>
              <a:srgbClr val="4B55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507492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CA3AF"/>
                </a:solidFill>
                <a:latin typeface="Arial"/>
              </a:rPr>
              <a:t>● Seed Stage •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293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6B7280"/>
                </a:solidFill>
                <a:latin typeface="Arial"/>
              </a:rPr>
              <a:t>02 /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CourtNG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9CA3AF"/>
                </a:solidFill>
                <a:latin typeface="Arial"/>
              </a:rPr>
              <a:t>Sports courts today are stuck in the past — expensive, inconsistent, and data-blind.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321E1E"/>
          </a:solidFill>
          <a:ln>
            <a:solidFill>
              <a:srgbClr val="7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774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⚠️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33172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CA5A5"/>
                </a:solidFill>
                <a:latin typeface="Arial"/>
              </a:rPr>
              <a:t>Human Error &amp; Disputes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432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Arial"/>
              </a:rPr>
              <a:t>Manual scoring and refereeing leads to errors, disputes, and inconsistent rule enforcement.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103120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321E1E"/>
          </a:solidFill>
          <a:ln>
            <a:solidFill>
              <a:srgbClr val="7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3774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33172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CA5A5"/>
                </a:solidFill>
                <a:latin typeface="Arial"/>
              </a:rPr>
              <a:t>Expensive Officials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7432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Arial"/>
              </a:rPr>
              <a:t>Qualified referees are scarce and expensive. Venues spend $172K/month on staff overhead.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749039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321E1E"/>
          </a:solidFill>
          <a:ln>
            <a:solidFill>
              <a:srgbClr val="7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2335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7763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CA5A5"/>
                </a:solidFill>
                <a:latin typeface="Arial"/>
              </a:rPr>
              <a:t>Zero Player Insights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891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Arial"/>
              </a:rPr>
              <a:t>No real-time data means missed coaching opportunities and no performance analytics.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749039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321E1E"/>
          </a:solidFill>
          <a:ln>
            <a:solidFill>
              <a:srgbClr val="7832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0" y="402335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/>
              <a:t>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397763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CA5A5"/>
                </a:solidFill>
                <a:latin typeface="Arial"/>
              </a:rPr>
              <a:t>Unaffordable Technology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3891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Arial"/>
              </a:rPr>
              <a:t>Hawk-Eye costs $60K+ per court. Only elite venues can afford automation.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2323"/>
            </a:gs>
            <a:gs pos="100000">
              <a:srgbClr val="1E293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6B7280"/>
                </a:solidFill>
                <a:latin typeface="Arial"/>
              </a:rPr>
              <a:t>03 /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CourtNG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The Solution: </a:t>
            </a:r>
            <a:r>
              <a:rPr sz="4000" b="1">
                <a:solidFill>
                  <a:srgbClr val="34D399"/>
                </a:solidFill>
                <a:latin typeface="Arial"/>
              </a:rPr>
              <a:t>CourtNG</a:t>
            </a:r>
            <a:r>
              <a:rPr sz="40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9CA3AF"/>
                </a:solidFill>
                <a:latin typeface="Arial"/>
              </a:rPr>
              <a:t>An AI-first court operating system that fully automates game flow and officiating.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14322D"/>
          </a:solidFill>
          <a:ln>
            <a:solidFill>
              <a:srgbClr val="286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377439"/>
            <a:ext cx="457200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774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/>
              <a:t>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3172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34D399"/>
                </a:solidFill>
                <a:latin typeface="Arial"/>
              </a:rPr>
              <a:t>Autonomous Officiating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7432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Arial"/>
              </a:rPr>
              <a:t>AI detects rally start/end, scores points, and calls fouls in real-time — no humans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103120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14322D"/>
          </a:solidFill>
          <a:ln>
            <a:solidFill>
              <a:srgbClr val="286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0" y="2377439"/>
            <a:ext cx="457200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23774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/>
              <a:t>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2331720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34D399"/>
                </a:solidFill>
                <a:latin typeface="Arial"/>
              </a:rPr>
              <a:t>Sport-Agnostic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274320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Arial"/>
              </a:rPr>
              <a:t>Configure once, deploy anywhere: tennis, pickleball, badminton, futsal, and more.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49039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14322D"/>
          </a:solidFill>
          <a:ln>
            <a:solidFill>
              <a:srgbClr val="286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4023359"/>
            <a:ext cx="457200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02335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/>
              <a:t>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97763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34D399"/>
                </a:solidFill>
                <a:latin typeface="Arial"/>
              </a:rPr>
              <a:t>Edge-First Deployment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3891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Arial"/>
              </a:rPr>
              <a:t>On-premise NVIDIA Jetson inference. Sub-50ms latency. Works offline.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3749039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14322D"/>
          </a:solidFill>
          <a:ln>
            <a:solidFill>
              <a:srgbClr val="286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754880" y="4023359"/>
            <a:ext cx="457200" cy="45720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402335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/>
              <a:t>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3977639"/>
            <a:ext cx="3017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34D399"/>
                </a:solidFill>
                <a:latin typeface="Arial"/>
              </a:rPr>
              <a:t>Integrated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438912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Arial"/>
              </a:rPr>
              <a:t>Live player stats, heatmaps, and performance trends delivered in real-time.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293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6B7280"/>
                </a:solidFill>
                <a:latin typeface="Arial"/>
              </a:rPr>
              <a:t>04 /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CourtNG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Market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9CA3AF"/>
                </a:solidFill>
                <a:latin typeface="Arial"/>
              </a:rPr>
              <a:t>The elite tier has proven AI officiating works. Now it's time to democratize access.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8046720" cy="960120"/>
          </a:xfrm>
          <a:prstGeom prst="roundRect">
            <a:avLst>
              <a:gd name="adj" fmla="val 10000"/>
            </a:avLst>
          </a:prstGeom>
          <a:solidFill>
            <a:srgbClr val="192332"/>
          </a:solidFill>
          <a:ln>
            <a:solidFill>
              <a:srgbClr val="324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502920" cy="50292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50008"/>
            <a:ext cx="502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2860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Elite Tier Proven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606039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Arial"/>
              </a:rPr>
              <a:t>Wimbledon (2025), ATP, and US Open have deployed full AI line-calling. The technology works at the highest level.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46120"/>
            <a:ext cx="8046720" cy="960120"/>
          </a:xfrm>
          <a:prstGeom prst="roundRect">
            <a:avLst>
              <a:gd name="adj" fmla="val 10000"/>
            </a:avLst>
          </a:prstGeom>
          <a:solidFill>
            <a:srgbClr val="192332"/>
          </a:solidFill>
          <a:ln>
            <a:solidFill>
              <a:srgbClr val="324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3474720"/>
            <a:ext cx="502920" cy="50292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93008"/>
            <a:ext cx="502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4290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Mid-Market Growth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749039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Arial"/>
              </a:rPr>
              <a:t>PlaySight, Wingfield, SwingVision, and TVConal are all raising funding — proving market demand.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389120"/>
            <a:ext cx="8046720" cy="960120"/>
          </a:xfrm>
          <a:prstGeom prst="roundRect">
            <a:avLst>
              <a:gd name="adj" fmla="val 10000"/>
            </a:avLst>
          </a:prstGeom>
          <a:solidFill>
            <a:srgbClr val="192332"/>
          </a:solidFill>
          <a:ln>
            <a:solidFill>
              <a:srgbClr val="324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4617720"/>
            <a:ext cx="502920" cy="50292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636008"/>
            <a:ext cx="502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/>
              <a:t>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5720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The Gap We're Filling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892040"/>
            <a:ext cx="6858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Arial"/>
              </a:rPr>
              <a:t>No vendor offers fully autonomous, sport-agnostic "court OS". Existing players focus on single-sport, analytics-only solutions.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41432"/>
            </a:gs>
            <a:gs pos="100000">
              <a:srgbClr val="1E293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6B7280"/>
                </a:solidFill>
                <a:latin typeface="Arial"/>
              </a:rPr>
              <a:t>05 /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CourtNG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Market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9CA3AF"/>
                </a:solidFill>
                <a:latin typeface="Arial"/>
              </a:rPr>
              <a:t>A massive, rapidly growing opportunity across multiple converging markets.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2651760" cy="1828800"/>
          </a:xfrm>
          <a:prstGeom prst="roundRect">
            <a:avLst>
              <a:gd name="adj" fmla="val 10000"/>
            </a:avLst>
          </a:prstGeom>
          <a:solidFill>
            <a:srgbClr val="1E283C"/>
          </a:solidFill>
          <a:ln>
            <a:solidFill>
              <a:srgbClr val="3C5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2286000"/>
            <a:ext cx="26517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34D399"/>
                </a:solidFill>
                <a:latin typeface="Arial"/>
              </a:rPr>
              <a:t>$8.7B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9CA3AF"/>
                </a:solidFill>
                <a:latin typeface="Arial"/>
              </a:rPr>
              <a:t>Computer Vision in Sports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4B5563"/>
                </a:solidFill>
                <a:latin typeface="Arial"/>
              </a:rPr>
              <a:t>Projected by 2029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103120"/>
            <a:ext cx="2651760" cy="1828800"/>
          </a:xfrm>
          <a:prstGeom prst="roundRect">
            <a:avLst>
              <a:gd name="adj" fmla="val 10000"/>
            </a:avLst>
          </a:prstGeom>
          <a:solidFill>
            <a:srgbClr val="1E283C"/>
          </a:solidFill>
          <a:ln>
            <a:solidFill>
              <a:srgbClr val="3C5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2286000"/>
            <a:ext cx="26517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34D399"/>
                </a:solidFill>
                <a:latin typeface="Arial"/>
              </a:rPr>
              <a:t>$10.1B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9260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9CA3AF"/>
                </a:solidFill>
                <a:latin typeface="Arial"/>
              </a:rPr>
              <a:t>Tournament Management Software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429000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4B5563"/>
                </a:solidFill>
                <a:latin typeface="Arial"/>
              </a:rPr>
              <a:t>2033 • 14.7% CAGR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103120"/>
            <a:ext cx="2651760" cy="1828800"/>
          </a:xfrm>
          <a:prstGeom prst="roundRect">
            <a:avLst>
              <a:gd name="adj" fmla="val 10000"/>
            </a:avLst>
          </a:prstGeom>
          <a:solidFill>
            <a:srgbClr val="1E283C"/>
          </a:solidFill>
          <a:ln>
            <a:solidFill>
              <a:srgbClr val="3C5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286000"/>
            <a:ext cx="26517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34D399"/>
                </a:solidFill>
                <a:latin typeface="Arial"/>
              </a:rPr>
              <a:t>$991B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260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9CA3AF"/>
                </a:solidFill>
                <a:latin typeface="Arial"/>
              </a:rPr>
              <a:t>Sports Facilities Global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429000"/>
            <a:ext cx="2651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4B5563"/>
                </a:solidFill>
                <a:latin typeface="Arial"/>
              </a:rPr>
              <a:t>2034 • 24.3% CAGR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206240"/>
            <a:ext cx="8046720" cy="822960"/>
          </a:xfrm>
          <a:prstGeom prst="roundRect">
            <a:avLst>
              <a:gd name="adj" fmla="val 10000"/>
            </a:avLst>
          </a:prstGeom>
          <a:solidFill>
            <a:srgbClr val="1E283C"/>
          </a:solidFill>
          <a:ln>
            <a:solidFill>
              <a:srgbClr val="3C5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976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34D399"/>
                </a:solidFill>
                <a:latin typeface="Arial"/>
              </a:rPr>
              <a:t>50K+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6634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9CA3AF"/>
                </a:solidFill>
                <a:latin typeface="Arial"/>
              </a:rPr>
              <a:t>Addressable Venues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42976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34D399"/>
                </a:solidFill>
                <a:latin typeface="Arial"/>
              </a:rPr>
              <a:t>159%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6634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9CA3AF"/>
                </a:solidFill>
                <a:latin typeface="Arial"/>
              </a:rPr>
              <a:t>Pickleball Growth (India)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29768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34D399"/>
                </a:solidFill>
                <a:latin typeface="Arial"/>
              </a:rPr>
              <a:t>20K+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466344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>
                <a:solidFill>
                  <a:srgbClr val="9CA3AF"/>
                </a:solidFill>
                <a:latin typeface="Arial"/>
              </a:rPr>
              <a:t>US Courts by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293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6B7280"/>
                </a:solidFill>
                <a:latin typeface="Arial"/>
              </a:rPr>
              <a:t>06 /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CourtNG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Product: Core Capabilities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9CA3AF"/>
                </a:solidFill>
                <a:latin typeface="Arial"/>
              </a:rPr>
              <a:t>Everything a court needs to run itself — in one unified platform.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2697480" cy="1371600"/>
          </a:xfrm>
          <a:prstGeom prst="roundRect">
            <a:avLst>
              <a:gd name="adj" fmla="val 10000"/>
            </a:avLst>
          </a:prstGeom>
          <a:solidFill>
            <a:srgbClr val="192332"/>
          </a:solidFill>
          <a:ln>
            <a:solidFill>
              <a:srgbClr val="324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325880" y="2240279"/>
            <a:ext cx="594360" cy="594360"/>
          </a:xfrm>
          <a:prstGeom prst="roundRect">
            <a:avLst>
              <a:gd name="adj" fmla="val 25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2267712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/>
              <a:t>👁️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80360"/>
            <a:ext cx="2514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Computer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54679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CA3AF"/>
                </a:solidFill>
                <a:latin typeface="Arial"/>
              </a:rPr>
              <a:t>Multi-camera ball &amp; player tracking with sub-centimeter precision.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2103120"/>
            <a:ext cx="2697480" cy="1371600"/>
          </a:xfrm>
          <a:prstGeom prst="roundRect">
            <a:avLst>
              <a:gd name="adj" fmla="val 10000"/>
            </a:avLst>
          </a:prstGeom>
          <a:solidFill>
            <a:srgbClr val="192332"/>
          </a:solidFill>
          <a:ln>
            <a:solidFill>
              <a:srgbClr val="324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06240" y="2240279"/>
            <a:ext cx="594360" cy="594360"/>
          </a:xfrm>
          <a:prstGeom prst="roundRect">
            <a:avLst>
              <a:gd name="adj" fmla="val 25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0" y="2267712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/>
              <a:t>⚙️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2880360"/>
            <a:ext cx="2514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Rules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154679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CA3AF"/>
                </a:solidFill>
                <a:latin typeface="Arial"/>
              </a:rPr>
              <a:t>Declarative, configurable rules for any sport.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103120"/>
            <a:ext cx="2697480" cy="1371600"/>
          </a:xfrm>
          <a:prstGeom prst="roundRect">
            <a:avLst>
              <a:gd name="adj" fmla="val 10000"/>
            </a:avLst>
          </a:prstGeom>
          <a:solidFill>
            <a:srgbClr val="192332"/>
          </a:solidFill>
          <a:ln>
            <a:solidFill>
              <a:srgbClr val="324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086600" y="2240279"/>
            <a:ext cx="594360" cy="594360"/>
          </a:xfrm>
          <a:prstGeom prst="roundRect">
            <a:avLst>
              <a:gd name="adj" fmla="val 25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2267712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/>
              <a:t>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2880360"/>
            <a:ext cx="2514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Event Detection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3154679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CA3AF"/>
                </a:solidFill>
                <a:latin typeface="Arial"/>
              </a:rPr>
              <a:t>Real-time rally detection, scoring, game flow.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657600"/>
            <a:ext cx="2697480" cy="1371600"/>
          </a:xfrm>
          <a:prstGeom prst="roundRect">
            <a:avLst>
              <a:gd name="adj" fmla="val 10000"/>
            </a:avLst>
          </a:prstGeom>
          <a:solidFill>
            <a:srgbClr val="192332"/>
          </a:solidFill>
          <a:ln>
            <a:solidFill>
              <a:srgbClr val="324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325880" y="3794760"/>
            <a:ext cx="594360" cy="594360"/>
          </a:xfrm>
          <a:prstGeom prst="roundRect">
            <a:avLst>
              <a:gd name="adj" fmla="val 25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25880" y="3822191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/>
              <a:t>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4434840"/>
            <a:ext cx="2514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Live Analytics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7091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CA3AF"/>
                </a:solidFill>
                <a:latin typeface="Arial"/>
              </a:rPr>
              <a:t>Player stats, heatmaps, performance metrics.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37560" y="3657600"/>
            <a:ext cx="2697480" cy="1371600"/>
          </a:xfrm>
          <a:prstGeom prst="roundRect">
            <a:avLst>
              <a:gd name="adj" fmla="val 10000"/>
            </a:avLst>
          </a:prstGeom>
          <a:solidFill>
            <a:srgbClr val="192332"/>
          </a:solidFill>
          <a:ln>
            <a:solidFill>
              <a:srgbClr val="324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206240" y="3794760"/>
            <a:ext cx="594360" cy="594360"/>
          </a:xfrm>
          <a:prstGeom prst="roundRect">
            <a:avLst>
              <a:gd name="adj" fmla="val 25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06240" y="3822191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/>
              <a:t>🖥️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9000" y="4434840"/>
            <a:ext cx="2514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Admin Dashboard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47091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CA3AF"/>
                </a:solidFill>
                <a:latin typeface="Arial"/>
              </a:rPr>
              <a:t>Full control over courts, matches, and settings.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3657600"/>
            <a:ext cx="2697480" cy="1371600"/>
          </a:xfrm>
          <a:prstGeom prst="roundRect">
            <a:avLst>
              <a:gd name="adj" fmla="val 10000"/>
            </a:avLst>
          </a:prstGeom>
          <a:solidFill>
            <a:srgbClr val="192332"/>
          </a:solidFill>
          <a:ln>
            <a:solidFill>
              <a:srgbClr val="324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086600" y="3794760"/>
            <a:ext cx="594360" cy="594360"/>
          </a:xfrm>
          <a:prstGeom prst="roundRect">
            <a:avLst>
              <a:gd name="adj" fmla="val 25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86600" y="3822191"/>
            <a:ext cx="594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/>
              <a:t>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59" y="4434840"/>
            <a:ext cx="2514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Mobile Apps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59" y="4709160"/>
            <a:ext cx="2514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9CA3AF"/>
                </a:solidFill>
                <a:latin typeface="Arial"/>
              </a:rPr>
              <a:t>Player apps for stats, booking, and social.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2323"/>
            </a:gs>
            <a:gs pos="100000">
              <a:srgbClr val="1E293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6B7280"/>
                </a:solidFill>
                <a:latin typeface="Arial"/>
              </a:rPr>
              <a:t>07 /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CourtNG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Product: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9CA3AF"/>
                </a:solidFill>
                <a:latin typeface="Arial"/>
              </a:rPr>
              <a:t>Modular, upgradeable, and built for scale from day 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192832"/>
          </a:solidFill>
          <a:ln>
            <a:solidFill>
              <a:srgbClr val="32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34D399"/>
                </a:solidFill>
                <a:latin typeface="Arial"/>
              </a:rPr>
              <a:t>📹 Vision Module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Multi-camera, ball/player tracking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10312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192832"/>
          </a:solidFill>
          <a:ln>
            <a:solidFill>
              <a:srgbClr val="32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219456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34D399"/>
                </a:solidFill>
                <a:latin typeface="Arial"/>
              </a:rPr>
              <a:t>📐 Rules 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56032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Sport-agnostic, declarative rules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00400"/>
            <a:ext cx="6949440" cy="82296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291840"/>
            <a:ext cx="6949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🧠 CourtNG 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611880"/>
            <a:ext cx="6949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DCFFF0"/>
                </a:solidFill>
                <a:latin typeface="Arial"/>
              </a:rPr>
              <a:t>Orchestration • State Machine • Event Bus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192832"/>
          </a:solidFill>
          <a:ln>
            <a:solidFill>
              <a:srgbClr val="32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29768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34D399"/>
                </a:solidFill>
                <a:latin typeface="Arial"/>
              </a:rPr>
              <a:t>🎯 Event 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61772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Rally detection, scoring, game flow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4206240"/>
            <a:ext cx="3291840" cy="914400"/>
          </a:xfrm>
          <a:prstGeom prst="roundRect">
            <a:avLst>
              <a:gd name="adj" fmla="val 10000"/>
            </a:avLst>
          </a:prstGeom>
          <a:solidFill>
            <a:srgbClr val="192832"/>
          </a:solidFill>
          <a:ln>
            <a:solidFill>
              <a:srgbClr val="3250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3440" y="429768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34D399"/>
                </a:solidFill>
                <a:latin typeface="Arial"/>
              </a:rPr>
              <a:t>📊 Analytics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617720"/>
            <a:ext cx="3108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Live dashboards, statistics, cloud sync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293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6B7280"/>
                </a:solidFill>
                <a:latin typeface="Arial"/>
              </a:rPr>
              <a:t>08 /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CourtNG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Why CourtNG is </a:t>
            </a:r>
            <a:r>
              <a:rPr sz="4000" b="1">
                <a:solidFill>
                  <a:srgbClr val="34D399"/>
                </a:solidFill>
                <a:latin typeface="Arial"/>
              </a:rPr>
              <a:t>Different</a:t>
            </a:r>
            <a:r>
              <a:rPr sz="40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9CA3AF"/>
                </a:solidFill>
                <a:latin typeface="Arial"/>
              </a:rPr>
              <a:t>Not just another sports tech solution — a complete paradigm shift.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8046720" cy="868680"/>
          </a:xfrm>
          <a:prstGeom prst="roundRect">
            <a:avLst>
              <a:gd name="adj" fmla="val 10000"/>
            </a:avLst>
          </a:prstGeom>
          <a:solidFill>
            <a:srgbClr val="192332"/>
          </a:solidFill>
          <a:ln>
            <a:solidFill>
              <a:srgbClr val="324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502920" cy="50292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04288"/>
            <a:ext cx="502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/>
              <a:t>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240279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Fully Autonomous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5603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Arial"/>
              </a:rPr>
              <a:t>Not an "assist" layer — CourtNG runs the entire match end-to-end, from first serve to game over.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108960"/>
            <a:ext cx="8046720" cy="868680"/>
          </a:xfrm>
          <a:prstGeom prst="roundRect">
            <a:avLst>
              <a:gd name="adj" fmla="val 10000"/>
            </a:avLst>
          </a:prstGeom>
          <a:solidFill>
            <a:srgbClr val="192332"/>
          </a:solidFill>
          <a:ln>
            <a:solidFill>
              <a:srgbClr val="324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3291840"/>
            <a:ext cx="502920" cy="50292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310128"/>
            <a:ext cx="502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/>
              <a:t>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24612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Sport-Agnostic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35661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Arial"/>
              </a:rPr>
              <a:t>Single platform configures for tennis, pickleball, badminton, futsal — and more to come.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114800"/>
            <a:ext cx="8046720" cy="868680"/>
          </a:xfrm>
          <a:prstGeom prst="roundRect">
            <a:avLst>
              <a:gd name="adj" fmla="val 10000"/>
            </a:avLst>
          </a:prstGeom>
          <a:solidFill>
            <a:srgbClr val="192332"/>
          </a:solidFill>
          <a:ln>
            <a:solidFill>
              <a:srgbClr val="324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4297680"/>
            <a:ext cx="502920" cy="50292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315968"/>
            <a:ext cx="502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/>
              <a:t>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25196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Edge-First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5720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Arial"/>
              </a:rPr>
              <a:t>On-premise inference with sub-50ms latency. Works offline. No cloud dependency.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120640"/>
            <a:ext cx="8046720" cy="868680"/>
          </a:xfrm>
          <a:prstGeom prst="roundRect">
            <a:avLst>
              <a:gd name="adj" fmla="val 10000"/>
            </a:avLst>
          </a:prstGeom>
          <a:solidFill>
            <a:srgbClr val="192332"/>
          </a:solidFill>
          <a:ln>
            <a:solidFill>
              <a:srgbClr val="3246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40080" y="5303520"/>
            <a:ext cx="502920" cy="502920"/>
          </a:xfrm>
          <a:prstGeom prst="roundRect">
            <a:avLst>
              <a:gd name="adj" fmla="val 20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321807"/>
            <a:ext cx="502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/>
              <a:t>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52578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Modular &amp; Upgradeable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57784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9CA3AF"/>
                </a:solidFill>
                <a:latin typeface="Arial"/>
              </a:rPr>
              <a:t>Vision, Rules, Events, and Analytics are swappable. AI models upgrade independently.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41432"/>
            </a:gs>
            <a:gs pos="100000">
              <a:srgbClr val="1E293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6B7280"/>
                </a:solidFill>
                <a:latin typeface="Arial"/>
              </a:rPr>
              <a:t>09 /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CourtNG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9CA3AF"/>
                </a:solidFill>
                <a:latin typeface="Arial"/>
              </a:rPr>
              <a:t>SaaS subscription + hardware bundle = predictable revenue + high margins.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2697480" cy="2697480"/>
          </a:xfrm>
          <a:prstGeom prst="roundRect">
            <a:avLst>
              <a:gd name="adj" fmla="val 10000"/>
            </a:avLst>
          </a:prstGeom>
          <a:solidFill>
            <a:srgbClr val="1E283C"/>
          </a:solidFill>
          <a:ln>
            <a:solidFill>
              <a:srgbClr val="3C5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4D399"/>
                </a:solidFill>
                <a:latin typeface="Arial"/>
              </a:rPr>
              <a:t>STARTER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6032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$500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280"/>
                </a:solidFill>
                <a:latin typeface="Arial"/>
              </a:rPr>
              <a:t>/month per court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79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CA3AF"/>
                </a:solidFill>
                <a:latin typeface="Arial"/>
              </a:rPr>
              <a:t>✓ Single court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39311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CA3AF"/>
                </a:solidFill>
                <a:latin typeface="Arial"/>
              </a:rPr>
              <a:t>✓ Basic scoring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95344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CA3AF"/>
                </a:solidFill>
                <a:latin typeface="Arial"/>
              </a:rPr>
              <a:t>✓ Local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51376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CA3AF"/>
                </a:solidFill>
                <a:latin typeface="Arial"/>
              </a:rPr>
              <a:t>✓ Email support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1920240"/>
            <a:ext cx="2880360" cy="2926080"/>
          </a:xfrm>
          <a:prstGeom prst="roundRect">
            <a:avLst>
              <a:gd name="adj" fmla="val 1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2103120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C8FFE6"/>
                </a:solidFill>
                <a:latin typeface="Arial"/>
              </a:rPr>
              <a:t>GROWTH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37744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$1,000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2834640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C8FFE6"/>
                </a:solidFill>
                <a:latin typeface="Arial"/>
              </a:rPr>
              <a:t>/month for 2-5 courts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3200400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DCFFF0"/>
                </a:solidFill>
                <a:latin typeface="Arial"/>
              </a:rPr>
              <a:t>✓ 2-5 courts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9000" y="3456432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DCFFF0"/>
                </a:solidFill>
                <a:latin typeface="Arial"/>
              </a:rPr>
              <a:t>✓ Full analytics suite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3712464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DCFFF0"/>
                </a:solidFill>
                <a:latin typeface="Arial"/>
              </a:rPr>
              <a:t>✓ Mobile app access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9000" y="3968496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DCFFF0"/>
                </a:solidFill>
                <a:latin typeface="Arial"/>
              </a:rPr>
              <a:t>✓ Leaderboards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4224528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DCFFF0"/>
                </a:solidFill>
                <a:latin typeface="Arial"/>
              </a:rPr>
              <a:t>✓ Priority support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103120"/>
            <a:ext cx="2697480" cy="2697480"/>
          </a:xfrm>
          <a:prstGeom prst="roundRect">
            <a:avLst>
              <a:gd name="adj" fmla="val 10000"/>
            </a:avLst>
          </a:prstGeom>
          <a:solidFill>
            <a:srgbClr val="1E283C"/>
          </a:solidFill>
          <a:ln>
            <a:solidFill>
              <a:srgbClr val="3C5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286000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34D399"/>
                </a:solidFill>
                <a:latin typeface="Arial"/>
              </a:rPr>
              <a:t>ENTERPRISE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560320"/>
            <a:ext cx="2468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$2,000+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017520"/>
            <a:ext cx="2468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7280"/>
                </a:solidFill>
                <a:latin typeface="Arial"/>
              </a:rPr>
              <a:t>/month unlimited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383279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CA3AF"/>
                </a:solidFill>
                <a:latin typeface="Arial"/>
              </a:rPr>
              <a:t>✓ Unlimited courts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639311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CA3AF"/>
                </a:solidFill>
                <a:latin typeface="Arial"/>
              </a:rPr>
              <a:t>✓ Custom rules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895344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CA3AF"/>
                </a:solidFill>
                <a:latin typeface="Arial"/>
              </a:rPr>
              <a:t>✓ Full API access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51376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CA3AF"/>
                </a:solidFill>
                <a:latin typeface="Arial"/>
              </a:rPr>
              <a:t>✓ Cloud sync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407408"/>
            <a:ext cx="2468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CA3AF"/>
                </a:solidFill>
                <a:latin typeface="Arial"/>
              </a:rPr>
              <a:t>✓ Dedicated manager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983480"/>
            <a:ext cx="8046720" cy="411480"/>
          </a:xfrm>
          <a:prstGeom prst="roundRect">
            <a:avLst>
              <a:gd name="adj" fmla="val 10000"/>
            </a:avLst>
          </a:prstGeom>
          <a:solidFill>
            <a:srgbClr val="1E283C"/>
          </a:solidFill>
          <a:ln>
            <a:solidFill>
              <a:srgbClr val="3C50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5029200"/>
            <a:ext cx="8046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CA3AF"/>
                </a:solidFill>
                <a:latin typeface="Arial"/>
              </a:rPr>
              <a:t>Hardware Bundle: NVIDIA Jetson + Cameras + PoE Network = </a:t>
            </a:r>
            <a:r>
              <a:rPr sz="1200" b="1">
                <a:solidFill>
                  <a:srgbClr val="FFFFFF"/>
                </a:solidFill>
                <a:latin typeface="Arial"/>
              </a:rPr>
              <a:t>$8K–$15K</a:t>
            </a:r>
            <a:r>
              <a:rPr sz="1200">
                <a:solidFill>
                  <a:srgbClr val="9CA3AF"/>
                </a:solidFill>
                <a:latin typeface="Arial"/>
              </a:rPr>
              <a:t> one-time setup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293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6B7280"/>
                </a:solidFill>
                <a:latin typeface="Arial"/>
              </a:rPr>
              <a:t>10 /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CourtNG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Competitive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9CA3AF"/>
                </a:solidFill>
                <a:latin typeface="Arial"/>
              </a:rPr>
              <a:t>Current solutions are expensive, limited, or both. We're changing that.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8046720" cy="457200"/>
          </a:xfrm>
          <a:prstGeom prst="roundRect">
            <a:avLst>
              <a:gd name="adj" fmla="val 10000"/>
            </a:avLst>
          </a:prstGeom>
          <a:solidFill>
            <a:srgbClr val="232D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76272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9CA3AF"/>
                </a:solidFill>
                <a:latin typeface="Arial"/>
              </a:rPr>
              <a:t>Company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217627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9CA3AF"/>
                </a:solidFill>
                <a:latin typeface="Arial"/>
              </a:rPr>
              <a:t>Autonomous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17627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9CA3AF"/>
                </a:solidFill>
                <a:latin typeface="Arial"/>
              </a:rPr>
              <a:t>Multi-Sport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2176272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9CA3AF"/>
                </a:solidFill>
                <a:latin typeface="Arial"/>
              </a:rPr>
              <a:t>Cost/Court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76272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9CA3AF"/>
                </a:solidFill>
                <a:latin typeface="Arial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060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rial"/>
              </a:rPr>
              <a:t>Hawk-Eye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26060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59E0B"/>
                </a:solidFill>
                <a:latin typeface="Arial"/>
              </a:rPr>
              <a:t>⚠️ Assist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6060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F4444"/>
                </a:solidFill>
                <a:latin typeface="Arial"/>
              </a:rPr>
              <a:t>❌ 1-2 Sports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6060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EF4444"/>
                </a:solidFill>
                <a:latin typeface="Arial"/>
              </a:rPr>
              <a:t>$60K+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6060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9CA3AF"/>
                </a:solidFill>
                <a:latin typeface="Arial"/>
              </a:rPr>
              <a:t>Elite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0632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rial"/>
              </a:rPr>
              <a:t>PlaySight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0632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59E0B"/>
                </a:solidFill>
                <a:latin typeface="Arial"/>
              </a:rPr>
              <a:t>⚠️ Assist Only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0632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F4444"/>
                </a:solidFill>
                <a:latin typeface="Arial"/>
              </a:rPr>
              <a:t>❌ Tennis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0632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59E0B"/>
                </a:solidFill>
                <a:latin typeface="Arial"/>
              </a:rPr>
              <a:t>$20K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0632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9CA3AF"/>
                </a:solidFill>
                <a:latin typeface="Arial"/>
              </a:rPr>
              <a:t>Academies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rial"/>
              </a:rPr>
              <a:t>SwingVision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5204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59E0B"/>
                </a:solidFill>
                <a:latin typeface="Arial"/>
              </a:rPr>
              <a:t>⚠️ Assist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35204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F4444"/>
                </a:solidFill>
                <a:latin typeface="Arial"/>
              </a:rPr>
              <a:t>❌ Tennis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35204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2C55E"/>
                </a:solidFill>
                <a:latin typeface="Arial"/>
              </a:rPr>
              <a:t>App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5204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9CA3AF"/>
                </a:solidFill>
                <a:latin typeface="Arial"/>
              </a:rPr>
              <a:t>Consumers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977639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FFFFF"/>
                </a:solidFill>
                <a:latin typeface="Arial"/>
              </a:rPr>
              <a:t>Wingfield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3977639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F59E0B"/>
                </a:solidFill>
                <a:latin typeface="Arial"/>
              </a:rPr>
              <a:t>⚠️ Assist 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39" y="3977639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EF4444"/>
                </a:solidFill>
                <a:latin typeface="Arial"/>
              </a:rPr>
              <a:t>❌ Tennis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0" y="3977639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F59E0B"/>
                </a:solidFill>
                <a:latin typeface="Arial"/>
              </a:rPr>
              <a:t>$15K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977639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9CA3AF"/>
                </a:solidFill>
                <a:latin typeface="Arial"/>
              </a:rPr>
              <a:t>Clubs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389120"/>
            <a:ext cx="8046720" cy="502920"/>
          </a:xfrm>
          <a:prstGeom prst="roundRect">
            <a:avLst>
              <a:gd name="adj" fmla="val 10000"/>
            </a:avLst>
          </a:prstGeom>
          <a:solidFill>
            <a:srgbClr val="143C32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480559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34D399"/>
                </a:solidFill>
                <a:latin typeface="Arial"/>
              </a:rPr>
              <a:t>CourtNG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7440" y="4480559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0B981"/>
                </a:solidFill>
                <a:latin typeface="Arial"/>
              </a:rPr>
              <a:t>✅ Full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49039" y="4480559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0B981"/>
                </a:solidFill>
                <a:latin typeface="Arial"/>
              </a:rPr>
              <a:t>✅ 4+ Sports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20640" y="4480559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0B981"/>
                </a:solidFill>
                <a:latin typeface="Arial"/>
              </a:rPr>
              <a:t>$8-15K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4480559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34D399"/>
                </a:solidFill>
                <a:latin typeface="Arial"/>
              </a:rPr>
              <a:t>Everyone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2323"/>
            </a:gs>
            <a:gs pos="100000">
              <a:srgbClr val="1E293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6B7280"/>
                </a:solidFill>
                <a:latin typeface="Arial"/>
              </a:rPr>
              <a:t>11 /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CourtNG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Our Competitive </a:t>
            </a:r>
            <a:r>
              <a:rPr sz="4000" b="1">
                <a:solidFill>
                  <a:srgbClr val="34D399"/>
                </a:solidFill>
                <a:latin typeface="Arial"/>
              </a:rPr>
              <a:t>Moat</a:t>
            </a:r>
            <a:r>
              <a:rPr sz="40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9CA3AF"/>
                </a:solidFill>
                <a:latin typeface="Arial"/>
              </a:rPr>
              <a:t>Multiple defensible advantages that compound over time.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103120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14322D"/>
          </a:solidFill>
          <a:ln>
            <a:solidFill>
              <a:srgbClr val="286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2331720"/>
            <a:ext cx="548640" cy="548640"/>
          </a:xfrm>
          <a:prstGeom prst="roundRect">
            <a:avLst>
              <a:gd name="adj" fmla="val 25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59152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/>
              <a:t>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28600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End-to-End Automation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26517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CA3AF"/>
                </a:solidFill>
                <a:latin typeface="Arial"/>
              </a:rPr>
              <a:t>Hawk-Eye only does line calling. We own the entire match — from check-in to final score.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2103120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14322D"/>
          </a:solidFill>
          <a:ln>
            <a:solidFill>
              <a:srgbClr val="286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0" y="2331720"/>
            <a:ext cx="548640" cy="548640"/>
          </a:xfrm>
          <a:prstGeom prst="roundRect">
            <a:avLst>
              <a:gd name="adj" fmla="val 25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0" y="2359152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/>
              <a:t>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228600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Sport-Agnostic Platform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26517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CA3AF"/>
                </a:solidFill>
                <a:latin typeface="Arial"/>
              </a:rPr>
              <a:t>Competitors are single-sport. Our rules engine scales across tennis, pickleball, badminton, futsal.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49039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14322D"/>
          </a:solidFill>
          <a:ln>
            <a:solidFill>
              <a:srgbClr val="286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977639"/>
            <a:ext cx="548640" cy="548640"/>
          </a:xfrm>
          <a:prstGeom prst="roundRect">
            <a:avLst>
              <a:gd name="adj" fmla="val 25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005072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/>
              <a:t>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93192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5-10x Cost Advantage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297679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CA3AF"/>
                </a:solidFill>
                <a:latin typeface="Arial"/>
              </a:rPr>
              <a:t>Hawk-Eye: $60K/court. CourtNG: $8-15K. We unlock 99% of venues they can't serve.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0" y="3749039"/>
            <a:ext cx="3931920" cy="1371600"/>
          </a:xfrm>
          <a:prstGeom prst="roundRect">
            <a:avLst>
              <a:gd name="adj" fmla="val 10000"/>
            </a:avLst>
          </a:prstGeom>
          <a:solidFill>
            <a:srgbClr val="14322D"/>
          </a:solidFill>
          <a:ln>
            <a:solidFill>
              <a:srgbClr val="2864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754880" y="3977639"/>
            <a:ext cx="548640" cy="548640"/>
          </a:xfrm>
          <a:prstGeom prst="roundRect">
            <a:avLst>
              <a:gd name="adj" fmla="val 25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4005072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/>
              <a:t>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3931920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Arial"/>
              </a:rPr>
              <a:t>Full-Stack Integration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80" y="4297679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CA3AF"/>
                </a:solidFill>
                <a:latin typeface="Arial"/>
              </a:rPr>
              <a:t>No competitor automates officiating + scoring + UX together. This is our moat.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293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6B7280"/>
                </a:solidFill>
                <a:latin typeface="Arial"/>
              </a:rPr>
              <a:t>12 /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3657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1">
                <a:solidFill>
                  <a:srgbClr val="FFFFFF"/>
                </a:solidFill>
                <a:latin typeface="Arial"/>
              </a:rPr>
              <a:t>CourtNG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94760" y="1188720"/>
            <a:ext cx="1371600" cy="13716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10B981"/>
              </a:gs>
              <a:gs pos="100000">
                <a:srgbClr val="06B6D4"/>
              </a:gs>
            </a:gsLst>
            <a:lin scaled="0" ang="135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94760" y="1463040"/>
            <a:ext cx="1371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>
                <a:solidFill>
                  <a:srgbClr val="FFFFFF"/>
                </a:solidFill>
              </a:rPr>
              <a:t>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43200"/>
            <a:ext cx="8229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5600" b="1">
                <a:solidFill>
                  <a:srgbClr val="34D399"/>
                </a:solidFill>
                <a:latin typeface="Arial"/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9CA3AF"/>
                </a:solidFill>
                <a:latin typeface="Arial"/>
              </a:rPr>
              <a:t>Let's build the future of sports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319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6B7280"/>
                </a:solidFill>
                <a:latin typeface="Arial"/>
              </a:rPr>
              <a:t>CourtNG — The Operating System for Courts That Run Themselves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4480560"/>
            <a:ext cx="2103120" cy="411480"/>
          </a:xfrm>
          <a:prstGeom prst="roundRect">
            <a:avLst>
              <a:gd name="adj" fmla="val 50000"/>
            </a:avLst>
          </a:prstGeom>
          <a:solidFill>
            <a:srgbClr val="1E2837"/>
          </a:solidFill>
          <a:ln>
            <a:solidFill>
              <a:srgbClr val="32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454456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CA3AF"/>
                </a:solidFill>
                <a:latin typeface="Arial"/>
              </a:rPr>
              <a:t>📧 hello@courtng.com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12080" y="4480560"/>
            <a:ext cx="2103120" cy="411480"/>
          </a:xfrm>
          <a:prstGeom prst="roundRect">
            <a:avLst>
              <a:gd name="adj" fmla="val 50000"/>
            </a:avLst>
          </a:prstGeom>
          <a:solidFill>
            <a:srgbClr val="1E2837"/>
          </a:solidFill>
          <a:ln>
            <a:solidFill>
              <a:srgbClr val="323C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4544568"/>
            <a:ext cx="2103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9CA3AF"/>
                </a:solidFill>
                <a:latin typeface="Arial"/>
              </a:rPr>
              <a:t>🌐 www.courtng.com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5120640"/>
            <a:ext cx="2560320" cy="411480"/>
          </a:xfrm>
          <a:prstGeom prst="roundRect">
            <a:avLst>
              <a:gd name="adj" fmla="val 50000"/>
            </a:avLst>
          </a:prstGeom>
          <a:solidFill>
            <a:srgbClr val="1E2D37"/>
          </a:solidFill>
          <a:ln>
            <a:solidFill>
              <a:srgbClr val="3246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5184648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34D399"/>
                </a:solidFill>
                <a:latin typeface="Arial"/>
              </a:rPr>
              <a:t>● Seeking $1M Seed Round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